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4" r:id="rId6"/>
    <p:sldId id="265" r:id="rId7"/>
    <p:sldId id="260" r:id="rId8"/>
    <p:sldId id="261" r:id="rId9"/>
    <p:sldId id="262" r:id="rId10"/>
    <p:sldId id="26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62D052-9596-4946-AAC7-08944BFEAF9E}" v="1" dt="2026-09-17T12:50:46.9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3" autoAdjust="0"/>
    <p:restoredTop sz="94610"/>
  </p:normalViewPr>
  <p:slideViewPr>
    <p:cSldViewPr snapToGrid="0" snapToObjects="1">
      <p:cViewPr varScale="1">
        <p:scale>
          <a:sx n="78" d="100"/>
          <a:sy n="78" d="100"/>
        </p:scale>
        <p:origin x="65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er Kaltenbrunner" userId="3fe601b2-b54b-413c-8165-becda0e9b112" providerId="ADAL" clId="{8A631519-8692-40D1-BDBA-FFA1451A9B87}"/>
    <pc:docChg chg="custSel modSld">
      <pc:chgData name="Alexander Kaltenbrunner" userId="3fe601b2-b54b-413c-8165-becda0e9b112" providerId="ADAL" clId="{8A631519-8692-40D1-BDBA-FFA1451A9B87}" dt="2026-09-17T13:05:50.048" v="73" actId="1076"/>
      <pc:docMkLst>
        <pc:docMk/>
      </pc:docMkLst>
      <pc:sldChg chg="delSp mod">
        <pc:chgData name="Alexander Kaltenbrunner" userId="3fe601b2-b54b-413c-8165-becda0e9b112" providerId="ADAL" clId="{8A631519-8692-40D1-BDBA-FFA1451A9B87}" dt="2026-09-17T12:43:16.241" v="0" actId="478"/>
        <pc:sldMkLst>
          <pc:docMk/>
          <pc:sldMk cId="0" sldId="259"/>
        </pc:sldMkLst>
        <pc:spChg chg="del">
          <ac:chgData name="Alexander Kaltenbrunner" userId="3fe601b2-b54b-413c-8165-becda0e9b112" providerId="ADAL" clId="{8A631519-8692-40D1-BDBA-FFA1451A9B87}" dt="2026-09-17T12:43:16.241" v="0" actId="478"/>
          <ac:spMkLst>
            <pc:docMk/>
            <pc:sldMk cId="0" sldId="259"/>
            <ac:spMk id="118" creationId="{00000000-0000-0000-0000-000000000000}"/>
          </ac:spMkLst>
        </pc:spChg>
      </pc:sldChg>
      <pc:sldChg chg="modSp mod">
        <pc:chgData name="Alexander Kaltenbrunner" userId="3fe601b2-b54b-413c-8165-becda0e9b112" providerId="ADAL" clId="{8A631519-8692-40D1-BDBA-FFA1451A9B87}" dt="2026-09-17T12:55:33.626" v="70" actId="5793"/>
        <pc:sldMkLst>
          <pc:docMk/>
          <pc:sldMk cId="0" sldId="261"/>
        </pc:sldMkLst>
        <pc:spChg chg="mod">
          <ac:chgData name="Alexander Kaltenbrunner" userId="3fe601b2-b54b-413c-8165-becda0e9b112" providerId="ADAL" clId="{8A631519-8692-40D1-BDBA-FFA1451A9B87}" dt="2026-09-17T12:55:08.505" v="20" actId="20577"/>
          <ac:spMkLst>
            <pc:docMk/>
            <pc:sldMk cId="0" sldId="261"/>
            <ac:spMk id="154" creationId="{00000000-0000-0000-0000-000000000000}"/>
          </ac:spMkLst>
        </pc:spChg>
        <pc:spChg chg="mod">
          <ac:chgData name="Alexander Kaltenbrunner" userId="3fe601b2-b54b-413c-8165-becda0e9b112" providerId="ADAL" clId="{8A631519-8692-40D1-BDBA-FFA1451A9B87}" dt="2026-09-17T12:55:33.626" v="70" actId="5793"/>
          <ac:spMkLst>
            <pc:docMk/>
            <pc:sldMk cId="0" sldId="261"/>
            <ac:spMk id="155" creationId="{00000000-0000-0000-0000-000000000000}"/>
          </ac:spMkLst>
        </pc:spChg>
      </pc:sldChg>
      <pc:sldChg chg="modSp mod">
        <pc:chgData name="Alexander Kaltenbrunner" userId="3fe601b2-b54b-413c-8165-becda0e9b112" providerId="ADAL" clId="{8A631519-8692-40D1-BDBA-FFA1451A9B87}" dt="2026-09-17T13:05:50.048" v="73" actId="1076"/>
        <pc:sldMkLst>
          <pc:docMk/>
          <pc:sldMk cId="0" sldId="263"/>
        </pc:sldMkLst>
        <pc:spChg chg="mod">
          <ac:chgData name="Alexander Kaltenbrunner" userId="3fe601b2-b54b-413c-8165-becda0e9b112" providerId="ADAL" clId="{8A631519-8692-40D1-BDBA-FFA1451A9B87}" dt="2026-09-17T13:05:50.048" v="73" actId="1076"/>
          <ac:spMkLst>
            <pc:docMk/>
            <pc:sldMk cId="0" sldId="263"/>
            <ac:spMk id="2" creationId="{00000000-0000-0000-0000-000000000000}"/>
          </ac:spMkLst>
        </pc:spChg>
        <pc:spChg chg="mod">
          <ac:chgData name="Alexander Kaltenbrunner" userId="3fe601b2-b54b-413c-8165-becda0e9b112" providerId="ADAL" clId="{8A631519-8692-40D1-BDBA-FFA1451A9B87}" dt="2026-09-17T13:04:58.452" v="71" actId="20577"/>
          <ac:spMkLst>
            <pc:docMk/>
            <pc:sldMk cId="0" sldId="263"/>
            <ac:spMk id="4" creationId="{00000000-0000-0000-0000-000000000000}"/>
          </ac:spMkLst>
        </pc:spChg>
        <pc:spChg chg="mod">
          <ac:chgData name="Alexander Kaltenbrunner" userId="3fe601b2-b54b-413c-8165-becda0e9b112" providerId="ADAL" clId="{8A631519-8692-40D1-BDBA-FFA1451A9B87}" dt="2026-09-17T13:05:49.477" v="72" actId="14100"/>
          <ac:spMkLst>
            <pc:docMk/>
            <pc:sldMk cId="0" sldId="263"/>
            <ac:spMk id="5" creationId="{00000000-0000-0000-0000-000000000000}"/>
          </ac:spMkLst>
        </pc:spChg>
      </pc:sldChg>
      <pc:sldChg chg="delSp mod">
        <pc:chgData name="Alexander Kaltenbrunner" userId="3fe601b2-b54b-413c-8165-becda0e9b112" providerId="ADAL" clId="{8A631519-8692-40D1-BDBA-FFA1451A9B87}" dt="2026-09-17T12:43:24.739" v="2" actId="478"/>
        <pc:sldMkLst>
          <pc:docMk/>
          <pc:sldMk cId="0" sldId="264"/>
        </pc:sldMkLst>
        <pc:spChg chg="del">
          <ac:chgData name="Alexander Kaltenbrunner" userId="3fe601b2-b54b-413c-8165-becda0e9b112" providerId="ADAL" clId="{8A631519-8692-40D1-BDBA-FFA1451A9B87}" dt="2026-09-17T12:43:24.739" v="2" actId="478"/>
          <ac:spMkLst>
            <pc:docMk/>
            <pc:sldMk cId="0" sldId="264"/>
            <ac:spMk id="112" creationId="{00000000-0000-0000-0000-000000000000}"/>
          </ac:spMkLst>
        </pc:spChg>
        <pc:spChg chg="del">
          <ac:chgData name="Alexander Kaltenbrunner" userId="3fe601b2-b54b-413c-8165-becda0e9b112" providerId="ADAL" clId="{8A631519-8692-40D1-BDBA-FFA1451A9B87}" dt="2026-09-17T12:43:23.140" v="1" actId="478"/>
          <ac:spMkLst>
            <pc:docMk/>
            <pc:sldMk cId="0" sldId="264"/>
            <ac:spMk id="1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771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Kurz vorstellen: Klassendiagramm = Software-Sicht, nicht Datenbank. Am Ende: Code mit eingebautem Fehler – Augen auf!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Klassendiagramm zeigt Software-Klassen: Objekte, Methoden, Zusammenhänge. Kein ER-Diagramm für Datenbanken. Nutzt man, um sich vor dem Programmieren den Aufbau zu überlegen.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Klasse = Kasten mit drei Bereichen: Name, Attribute, Methoden. Plus = public (von außen sichtbar), Minus = private (nur intern).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Drei Beziehungen reichen: Vererbung = durchgezogene Linie + hohles Dreieck. Realisierung (Interface implementieren) = gestrichelte Linie + hohles Dreieck. Assoziation = einfache Linie ohne Dreieck, wenn eine Klasse eine andere nur kennt. Das Dreieck zeigt immer zur Oberklasse bzw. zum Interface.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Aggregation und Komposition sind Spezialfälle der Assoziation: ein Ganzes mit Teilen. Aggregation = hohle Raute, das Teil lebt auch ohne das Ganze (Schüler ohne Klasse). Komposition = gefüllte Raute, das Teil hängt komplett am Ganzen (Motor gehört zum Auto). Raute immer beim Ganzen. Faustregel mit dem Löschen erklären.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Links Aggregation: Die Schüler-Liste wird von außen übergeben, die Schüler existieren schon vorher. Rechts Komposition: Der Motor wird im Konstruktor mit new erzeugt, er entsteht und verschwindet mit dem Auto. Multiplizitäten kurz erklären: eine Klasse hat beliebig viele Schüler, ein Auto genau einen Motor.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Unser Projekt als Diagramm: IFigur gibt Volumen + Oberflaeche vor. Figur implementiert das Interface, ist abstrakt. Kugel und Wuerfel erben von Figur.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Zuhörer kurz suchen lassen. Hinweis falls nötig: Die Formeln stimmen, schaut auf die erste Zeile und vergleicht mit dem Diagramm links. Der Fehler: Wuerfel erbt von Kugel statt von Figur. Code kompiliert und funktioniert trotzdem.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Der Fehler: Wuerfel erbt von Kugel statt von Figur — widerspricht dem Klassendiagramm. Code kompiliert, Volumen() liefert sogar den richtigen Wert. Trotzdem falsch: Vererbung bedeutet „ist ein“ — ein Wuerfel ist aber keine Kugel. Weil Wuerfel von Kugel erbt, kann man einen Wuerfel überall übergeben, wo eine Kugel erwartet wird. Code, der sich auf Kugel verlässt (z.B. auf den Radius), bekommt dann ein falsches Objekt. Genau solche Fehler entstehen, wenn man beim Programmieren nicht mehr aufs Klassendiagramm schaut.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g"/>
          <p:cNvSpPr/>
          <p:nvPr/>
        </p:nvSpPr>
        <p:spPr>
          <a:xfrm>
            <a:off x="0" y="0"/>
            <a:ext cx="12188952" cy="6858000"/>
          </a:xfrm>
          <a:prstGeom prst="rect">
            <a:avLst/>
          </a:prstGeom>
          <a:solidFill>
            <a:srgbClr val="1E1E2E"/>
          </a:solidFill>
          <a:ln/>
        </p:spPr>
        <p:txBody>
          <a:bodyPr/>
          <a:lstStyle/>
          <a:p>
            <a:endParaRPr lang="de-AT"/>
          </a:p>
        </p:txBody>
      </p:sp>
      <p:sp>
        <p:nvSpPr>
          <p:cNvPr id="3" name="!!title"/>
          <p:cNvSpPr txBox="1"/>
          <p:nvPr/>
        </p:nvSpPr>
        <p:spPr>
          <a:xfrm>
            <a:off x="822960" y="2468880"/>
            <a:ext cx="9144000" cy="10058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Klassendiagramme</a:t>
            </a:r>
            <a:endParaRPr lang="en-US" sz="4600" dirty="0"/>
          </a:p>
        </p:txBody>
      </p:sp>
      <p:sp>
        <p:nvSpPr>
          <p:cNvPr id="4" name="Text 2"/>
          <p:cNvSpPr txBox="1"/>
          <p:nvPr/>
        </p:nvSpPr>
        <p:spPr>
          <a:xfrm>
            <a:off x="822960" y="3383280"/>
            <a:ext cx="8229600" cy="502920"/>
          </a:xfrm>
          <a:prstGeom prst="rect">
            <a:avLst/>
          </a:prstGeom>
          <a:noFill/>
          <a:ln/>
        </p:spPr>
        <p:txBody>
          <a:bodyPr wrap="square" lIns="0" tIns="0" rIns="0" bIns="0" rtlCol="0" anchor="ctr"/>
          <a:lstStyle/>
          <a:p>
            <a:r>
              <a:rPr lang="de-AT" sz="2000" i="1">
                <a:solidFill>
                  <a:srgbClr val="4EC9B0"/>
                </a:solidFill>
                <a:ea typeface="Calibri"/>
                <a:cs typeface="Calibri"/>
              </a:rPr>
              <a:t>Klassen, Beziehungen und Vererbung</a:t>
            </a:r>
          </a:p>
        </p:txBody>
      </p:sp>
      <p:sp>
        <p:nvSpPr>
          <p:cNvPr id="5" name="Shape 3"/>
          <p:cNvSpPr/>
          <p:nvPr/>
        </p:nvSpPr>
        <p:spPr>
          <a:xfrm>
            <a:off x="822960" y="4069080"/>
            <a:ext cx="2377440" cy="0"/>
          </a:xfrm>
          <a:prstGeom prst="line">
            <a:avLst/>
          </a:prstGeom>
          <a:noFill/>
          <a:ln w="25400">
            <a:solidFill>
              <a:srgbClr val="C586C0"/>
            </a:solidFill>
            <a:prstDash val="solid"/>
          </a:ln>
        </p:spPr>
        <p:txBody>
          <a:bodyPr/>
          <a:lstStyle/>
          <a:p>
            <a:endParaRPr lang="de-AT"/>
          </a:p>
        </p:txBody>
      </p:sp>
      <p:sp>
        <p:nvSpPr>
          <p:cNvPr id="6" name="Text 4"/>
          <p:cNvSpPr txBox="1"/>
          <p:nvPr/>
        </p:nvSpPr>
        <p:spPr>
          <a:xfrm>
            <a:off x="822960" y="4251960"/>
            <a:ext cx="731520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Kaltenbrunner  &amp;  Spring   ·   SEW</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g"/>
          <p:cNvSpPr/>
          <p:nvPr/>
        </p:nvSpPr>
        <p:spPr>
          <a:xfrm>
            <a:off x="3048" y="0"/>
            <a:ext cx="12188952" cy="6858000"/>
          </a:xfrm>
          <a:prstGeom prst="rect">
            <a:avLst/>
          </a:prstGeom>
          <a:solidFill>
            <a:srgbClr val="FFFFFF"/>
          </a:solidFill>
          <a:ln/>
        </p:spPr>
        <p:txBody>
          <a:bodyPr/>
          <a:lstStyle/>
          <a:p>
            <a:endParaRPr lang="de-AT"/>
          </a:p>
        </p:txBody>
      </p:sp>
      <p:sp>
        <p:nvSpPr>
          <p:cNvPr id="3" name="!!title"/>
          <p:cNvSpPr txBox="1"/>
          <p:nvPr/>
        </p:nvSpPr>
        <p:spPr>
          <a:xfrm>
            <a:off x="548640" y="411480"/>
            <a:ext cx="10515600" cy="731520"/>
          </a:xfrm>
          <a:prstGeom prst="rect">
            <a:avLst/>
          </a:prstGeom>
          <a:noFill/>
          <a:ln/>
        </p:spPr>
        <p:txBody>
          <a:bodyPr wrap="square" lIns="0" tIns="0" rIns="0" bIns="0" rtlCol="0" anchor="ctr"/>
          <a:lstStyle/>
          <a:p>
            <a:pPr marL="0" indent="0">
              <a:buNone/>
            </a:pPr>
            <a:r>
              <a:rPr lang="en-US" sz="3400" b="1" dirty="0">
                <a:solidFill>
                  <a:srgbClr val="1E1E2E"/>
                </a:solidFill>
                <a:latin typeface="Calibri" pitchFamily="34" charset="0"/>
                <a:ea typeface="Calibri" pitchFamily="34" charset="-122"/>
                <a:cs typeface="Calibri" pitchFamily="34" charset="-120"/>
              </a:rPr>
              <a:t>Was ist ein Klassendiagramm?</a:t>
            </a:r>
            <a:endParaRPr lang="en-US" sz="3400" dirty="0"/>
          </a:p>
        </p:txBody>
      </p:sp>
      <p:sp>
        <p:nvSpPr>
          <p:cNvPr id="4" name="Shape 2"/>
          <p:cNvSpPr/>
          <p:nvPr/>
        </p:nvSpPr>
        <p:spPr>
          <a:xfrm>
            <a:off x="640080" y="1828800"/>
            <a:ext cx="164592" cy="164592"/>
          </a:xfrm>
          <a:prstGeom prst="rect">
            <a:avLst/>
          </a:prstGeom>
          <a:solidFill>
            <a:srgbClr val="569CD6"/>
          </a:solidFill>
          <a:ln/>
        </p:spPr>
        <p:txBody>
          <a:bodyPr/>
          <a:lstStyle/>
          <a:p>
            <a:endParaRPr lang="de-AT"/>
          </a:p>
        </p:txBody>
      </p:sp>
      <p:sp>
        <p:nvSpPr>
          <p:cNvPr id="5" name="Text 3"/>
          <p:cNvSpPr txBox="1"/>
          <p:nvPr/>
        </p:nvSpPr>
        <p:spPr>
          <a:xfrm>
            <a:off x="1051560" y="1627632"/>
            <a:ext cx="6217920" cy="548640"/>
          </a:xfrm>
          <a:prstGeom prst="rect">
            <a:avLst/>
          </a:prstGeom>
          <a:noFill/>
          <a:ln/>
        </p:spPr>
        <p:txBody>
          <a:bodyPr wrap="square" lIns="0" tIns="0" rIns="0" bIns="0" rtlCol="0" anchor="ctr"/>
          <a:lstStyle/>
          <a:p>
            <a:r>
              <a:rPr lang="en-US" sz="2000" dirty="0" err="1">
                <a:solidFill>
                  <a:srgbClr val="1E1E2E"/>
                </a:solidFill>
                <a:ea typeface="+mn-lt"/>
                <a:cs typeface="+mn-lt"/>
              </a:rPr>
              <a:t>Statischer</a:t>
            </a:r>
            <a:r>
              <a:rPr lang="en-US" sz="2000" dirty="0">
                <a:solidFill>
                  <a:srgbClr val="1E1E2E"/>
                </a:solidFill>
                <a:ea typeface="+mn-lt"/>
                <a:cs typeface="+mn-lt"/>
              </a:rPr>
              <a:t> Aufbau der Software</a:t>
            </a:r>
            <a:endParaRPr lang="en-US" dirty="0"/>
          </a:p>
        </p:txBody>
      </p:sp>
      <p:sp>
        <p:nvSpPr>
          <p:cNvPr id="6" name="Shape 4"/>
          <p:cNvSpPr/>
          <p:nvPr/>
        </p:nvSpPr>
        <p:spPr>
          <a:xfrm>
            <a:off x="640080" y="2606040"/>
            <a:ext cx="164592" cy="164592"/>
          </a:xfrm>
          <a:prstGeom prst="rect">
            <a:avLst/>
          </a:prstGeom>
          <a:solidFill>
            <a:srgbClr val="569CD6"/>
          </a:solidFill>
          <a:ln/>
        </p:spPr>
        <p:txBody>
          <a:bodyPr/>
          <a:lstStyle/>
          <a:p>
            <a:endParaRPr lang="de-AT"/>
          </a:p>
        </p:txBody>
      </p:sp>
      <p:sp>
        <p:nvSpPr>
          <p:cNvPr id="7" name="Text 5"/>
          <p:cNvSpPr txBox="1"/>
          <p:nvPr/>
        </p:nvSpPr>
        <p:spPr>
          <a:xfrm>
            <a:off x="1051560" y="2404872"/>
            <a:ext cx="6217920" cy="548640"/>
          </a:xfrm>
          <a:prstGeom prst="rect">
            <a:avLst/>
          </a:prstGeom>
          <a:noFill/>
          <a:ln/>
        </p:spPr>
        <p:txBody>
          <a:bodyPr wrap="square" lIns="0" tIns="0" rIns="0" bIns="0" rtlCol="0" anchor="ctr"/>
          <a:lstStyle/>
          <a:p>
            <a:r>
              <a:rPr lang="en-US" sz="2000" dirty="0">
                <a:solidFill>
                  <a:srgbClr val="1E1E2E"/>
                </a:solidFill>
                <a:ea typeface="+mn-lt"/>
                <a:cs typeface="+mn-lt"/>
              </a:rPr>
              <a:t>Klassen (Attribute, </a:t>
            </a:r>
            <a:r>
              <a:rPr lang="en-US" sz="2000" dirty="0" err="1">
                <a:solidFill>
                  <a:srgbClr val="1E1E2E"/>
                </a:solidFill>
                <a:ea typeface="+mn-lt"/>
                <a:cs typeface="+mn-lt"/>
              </a:rPr>
              <a:t>Methoden</a:t>
            </a:r>
            <a:r>
              <a:rPr lang="en-US" sz="2000" dirty="0">
                <a:solidFill>
                  <a:srgbClr val="1E1E2E"/>
                </a:solidFill>
                <a:ea typeface="+mn-lt"/>
                <a:cs typeface="+mn-lt"/>
              </a:rPr>
              <a:t>) und </a:t>
            </a:r>
            <a:r>
              <a:rPr lang="en-US" sz="2000" dirty="0" err="1">
                <a:solidFill>
                  <a:srgbClr val="1E1E2E"/>
                </a:solidFill>
                <a:ea typeface="+mn-lt"/>
                <a:cs typeface="+mn-lt"/>
              </a:rPr>
              <a:t>deren</a:t>
            </a:r>
            <a:r>
              <a:rPr lang="en-US" sz="2000" dirty="0">
                <a:solidFill>
                  <a:srgbClr val="1E1E2E"/>
                </a:solidFill>
                <a:ea typeface="+mn-lt"/>
                <a:cs typeface="+mn-lt"/>
              </a:rPr>
              <a:t> </a:t>
            </a:r>
            <a:r>
              <a:rPr lang="en-US" sz="2000" dirty="0" err="1">
                <a:solidFill>
                  <a:srgbClr val="1E1E2E"/>
                </a:solidFill>
                <a:ea typeface="+mn-lt"/>
                <a:cs typeface="+mn-lt"/>
              </a:rPr>
              <a:t>Beziehungen</a:t>
            </a:r>
            <a:endParaRPr lang="en-US" dirty="0"/>
          </a:p>
        </p:txBody>
      </p:sp>
      <p:sp>
        <p:nvSpPr>
          <p:cNvPr id="101" name="Shape 101"/>
          <p:cNvSpPr/>
          <p:nvPr/>
        </p:nvSpPr>
        <p:spPr>
          <a:xfrm>
            <a:off x="640080" y="3383280"/>
            <a:ext cx="164592" cy="164592"/>
          </a:xfrm>
          <a:prstGeom prst="rect">
            <a:avLst/>
          </a:prstGeom>
          <a:solidFill>
            <a:srgbClr val="569CD6"/>
          </a:solidFill>
          <a:ln>
            <a:noFill/>
          </a:ln>
        </p:spPr>
        <p:txBody>
          <a:bodyPr/>
          <a:lstStyle/>
          <a:p>
            <a:endParaRPr lang="de-AT"/>
          </a:p>
        </p:txBody>
      </p:sp>
      <p:sp>
        <p:nvSpPr>
          <p:cNvPr id="102" name="Text 102"/>
          <p:cNvSpPr txBox="1"/>
          <p:nvPr/>
        </p:nvSpPr>
        <p:spPr>
          <a:xfrm>
            <a:off x="1051560" y="3182112"/>
            <a:ext cx="6400800" cy="548640"/>
          </a:xfrm>
          <a:prstGeom prst="rect">
            <a:avLst/>
          </a:prstGeom>
          <a:noFill/>
        </p:spPr>
        <p:txBody>
          <a:bodyPr wrap="square" lIns="0" tIns="0" rIns="0" bIns="0" rtlCol="0" anchor="ctr"/>
          <a:lstStyle/>
          <a:p>
            <a:pPr marL="0" indent="0" algn="l">
              <a:buNone/>
            </a:pPr>
            <a:r>
              <a:rPr lang="de-AT" sz="2000">
                <a:solidFill>
                  <a:srgbClr val="1E1E2E"/>
                </a:solidFill>
                <a:latin typeface="Calibri"/>
                <a:ea typeface="Calibri"/>
                <a:cs typeface="Calibri"/>
              </a:rPr>
              <a:t>Kein ER-Diagramm (keine Datenbanktabellen)</a:t>
            </a:r>
          </a:p>
        </p:txBody>
      </p:sp>
      <p:sp>
        <p:nvSpPr>
          <p:cNvPr id="10" name="!!klasse-kopf"/>
          <p:cNvSpPr/>
          <p:nvPr/>
        </p:nvSpPr>
        <p:spPr>
          <a:xfrm>
            <a:off x="7955280" y="1828800"/>
            <a:ext cx="3383280" cy="548640"/>
          </a:xfrm>
          <a:prstGeom prst="rect">
            <a:avLst/>
          </a:prstGeom>
          <a:solidFill>
            <a:srgbClr val="1E1E2E"/>
          </a:solidFill>
          <a:ln w="12700">
            <a:solidFill>
              <a:srgbClr val="1E1E2E"/>
            </a:solidFill>
            <a:prstDash val="solid"/>
          </a:ln>
        </p:spPr>
        <p:txBody>
          <a:bodyPr/>
          <a:lstStyle/>
          <a:p>
            <a:endParaRPr lang="de-AT"/>
          </a:p>
        </p:txBody>
      </p:sp>
      <p:sp>
        <p:nvSpPr>
          <p:cNvPr id="11" name="!!klasse-name"/>
          <p:cNvSpPr txBox="1"/>
          <p:nvPr/>
        </p:nvSpPr>
        <p:spPr>
          <a:xfrm>
            <a:off x="7955280" y="1828800"/>
            <a:ext cx="33832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Klassenname</a:t>
            </a:r>
            <a:endParaRPr lang="en-US" sz="1400" dirty="0"/>
          </a:p>
        </p:txBody>
      </p:sp>
      <p:sp>
        <p:nvSpPr>
          <p:cNvPr id="12" name="!!klasse-attr"/>
          <p:cNvSpPr/>
          <p:nvPr/>
        </p:nvSpPr>
        <p:spPr>
          <a:xfrm>
            <a:off x="7955280" y="2377440"/>
            <a:ext cx="3383280" cy="502920"/>
          </a:xfrm>
          <a:prstGeom prst="rect">
            <a:avLst/>
          </a:prstGeom>
          <a:solidFill>
            <a:srgbClr val="F4F4F8"/>
          </a:solidFill>
          <a:ln w="12700">
            <a:solidFill>
              <a:srgbClr val="1E1E2E"/>
            </a:solidFill>
            <a:prstDash val="solid"/>
          </a:ln>
        </p:spPr>
        <p:txBody>
          <a:bodyPr/>
          <a:lstStyle/>
          <a:p>
            <a:endParaRPr lang="de-AT"/>
          </a:p>
        </p:txBody>
      </p:sp>
      <p:sp>
        <p:nvSpPr>
          <p:cNvPr id="13" name="!!klasse-attr-text"/>
          <p:cNvSpPr txBox="1"/>
          <p:nvPr/>
        </p:nvSpPr>
        <p:spPr>
          <a:xfrm>
            <a:off x="8138160" y="2377440"/>
            <a:ext cx="3017520" cy="502920"/>
          </a:xfrm>
          <a:prstGeom prst="rect">
            <a:avLst/>
          </a:prstGeom>
          <a:noFill/>
          <a:ln/>
        </p:spPr>
        <p:txBody>
          <a:bodyPr wrap="square" lIns="0" tIns="0" rIns="0" bIns="0" rtlCol="0" anchor="ctr"/>
          <a:lstStyle/>
          <a:p>
            <a:pPr marL="0" indent="0">
              <a:buNone/>
            </a:pPr>
            <a:r>
              <a:rPr lang="en-US" sz="1200" dirty="0">
                <a:solidFill>
                  <a:srgbClr val="1E1E2E"/>
                </a:solidFill>
                <a:latin typeface="Consolas" pitchFamily="34" charset="0"/>
                <a:ea typeface="Consolas" pitchFamily="34" charset="-122"/>
                <a:cs typeface="Consolas" pitchFamily="34" charset="-120"/>
              </a:rPr>
              <a:t>- attribut : typ</a:t>
            </a:r>
            <a:endParaRPr lang="en-US" sz="1200" dirty="0"/>
          </a:p>
        </p:txBody>
      </p:sp>
      <p:sp>
        <p:nvSpPr>
          <p:cNvPr id="14" name="!!klasse-meth"/>
          <p:cNvSpPr/>
          <p:nvPr/>
        </p:nvSpPr>
        <p:spPr>
          <a:xfrm>
            <a:off x="7955280" y="2880360"/>
            <a:ext cx="3383280" cy="502920"/>
          </a:xfrm>
          <a:prstGeom prst="rect">
            <a:avLst/>
          </a:prstGeom>
          <a:solidFill>
            <a:srgbClr val="F4F4F8"/>
          </a:solidFill>
          <a:ln w="12700">
            <a:solidFill>
              <a:srgbClr val="1E1E2E"/>
            </a:solidFill>
            <a:prstDash val="solid"/>
          </a:ln>
        </p:spPr>
        <p:txBody>
          <a:bodyPr/>
          <a:lstStyle/>
          <a:p>
            <a:endParaRPr lang="de-AT"/>
          </a:p>
        </p:txBody>
      </p:sp>
      <p:sp>
        <p:nvSpPr>
          <p:cNvPr id="15" name="!!klasse-meth-text"/>
          <p:cNvSpPr txBox="1"/>
          <p:nvPr/>
        </p:nvSpPr>
        <p:spPr>
          <a:xfrm>
            <a:off x="8138160" y="2880360"/>
            <a:ext cx="3017520" cy="502920"/>
          </a:xfrm>
          <a:prstGeom prst="rect">
            <a:avLst/>
          </a:prstGeom>
          <a:noFill/>
          <a:ln/>
        </p:spPr>
        <p:txBody>
          <a:bodyPr wrap="square" lIns="0" tIns="0" rIns="0" bIns="0" rtlCol="0" anchor="ctr"/>
          <a:lstStyle/>
          <a:p>
            <a:pPr marL="0" indent="0">
              <a:buNone/>
            </a:pPr>
            <a:r>
              <a:rPr lang="en-US" sz="1200" dirty="0">
                <a:solidFill>
                  <a:srgbClr val="1E1E2E"/>
                </a:solidFill>
                <a:latin typeface="Consolas" pitchFamily="34" charset="0"/>
                <a:ea typeface="Consolas" pitchFamily="34" charset="-122"/>
                <a:cs typeface="Consolas" pitchFamily="34" charset="-120"/>
              </a:rPr>
              <a:t>+ methode() : typ</a:t>
            </a:r>
            <a:endParaRPr lang="en-US" sz="1200" dirty="0"/>
          </a:p>
        </p:txBody>
      </p:sp>
      <p:sp>
        <p:nvSpPr>
          <p:cNvPr id="16" name="Text 14"/>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1000" dirty="0">
                <a:solidFill>
                  <a:srgbClr val="B0B0B0"/>
                </a:solidFill>
                <a:latin typeface="Calibri" pitchFamily="34" charset="0"/>
                <a:ea typeface="Calibri" pitchFamily="34" charset="-122"/>
                <a:cs typeface="Calibri" pitchFamily="34" charset="-120"/>
              </a:rPr>
              <a:t>Klassendiagramme · Kaltenbrunner &amp; Spring</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g"/>
          <p:cNvSpPr/>
          <p:nvPr/>
        </p:nvSpPr>
        <p:spPr>
          <a:xfrm>
            <a:off x="0" y="0"/>
            <a:ext cx="12188952" cy="6858000"/>
          </a:xfrm>
          <a:prstGeom prst="rect">
            <a:avLst/>
          </a:prstGeom>
          <a:solidFill>
            <a:srgbClr val="FFFFFF"/>
          </a:solidFill>
          <a:ln/>
        </p:spPr>
        <p:txBody>
          <a:bodyPr/>
          <a:lstStyle/>
          <a:p>
            <a:endParaRPr lang="de-AT"/>
          </a:p>
        </p:txBody>
      </p:sp>
      <p:sp>
        <p:nvSpPr>
          <p:cNvPr id="3" name="!!title"/>
          <p:cNvSpPr txBox="1"/>
          <p:nvPr/>
        </p:nvSpPr>
        <p:spPr>
          <a:xfrm>
            <a:off x="548640" y="411480"/>
            <a:ext cx="10515600" cy="731520"/>
          </a:xfrm>
          <a:prstGeom prst="rect">
            <a:avLst/>
          </a:prstGeom>
          <a:noFill/>
          <a:ln/>
        </p:spPr>
        <p:txBody>
          <a:bodyPr wrap="square" lIns="0" tIns="0" rIns="0" bIns="0" rtlCol="0" anchor="ctr"/>
          <a:lstStyle/>
          <a:p>
            <a:pPr marL="0" indent="0">
              <a:buNone/>
            </a:pPr>
            <a:r>
              <a:rPr lang="en-US" sz="3400" b="1" dirty="0">
                <a:solidFill>
                  <a:srgbClr val="1E1E2E"/>
                </a:solidFill>
                <a:latin typeface="Calibri" pitchFamily="34" charset="0"/>
                <a:ea typeface="Calibri" pitchFamily="34" charset="-122"/>
                <a:cs typeface="Calibri" pitchFamily="34" charset="-120"/>
              </a:rPr>
              <a:t>Aufbau </a:t>
            </a:r>
            <a:r>
              <a:rPr lang="en-US" sz="3400" b="1" dirty="0" err="1">
                <a:solidFill>
                  <a:srgbClr val="1E1E2E"/>
                </a:solidFill>
                <a:latin typeface="Calibri" pitchFamily="34" charset="0"/>
                <a:ea typeface="Calibri" pitchFamily="34" charset="-122"/>
                <a:cs typeface="Calibri" pitchFamily="34" charset="-120"/>
              </a:rPr>
              <a:t>einer</a:t>
            </a:r>
            <a:r>
              <a:rPr lang="en-US" sz="3400" b="1" dirty="0">
                <a:solidFill>
                  <a:srgbClr val="1E1E2E"/>
                </a:solidFill>
                <a:latin typeface="Calibri" pitchFamily="34" charset="0"/>
                <a:ea typeface="Calibri" pitchFamily="34" charset="-122"/>
                <a:cs typeface="Calibri" pitchFamily="34" charset="-120"/>
              </a:rPr>
              <a:t> Klasse</a:t>
            </a:r>
            <a:endParaRPr lang="en-US" sz="3400" dirty="0"/>
          </a:p>
        </p:txBody>
      </p:sp>
      <p:sp>
        <p:nvSpPr>
          <p:cNvPr id="4" name="!!klasse-kopf"/>
          <p:cNvSpPr/>
          <p:nvPr/>
        </p:nvSpPr>
        <p:spPr>
          <a:xfrm>
            <a:off x="914400" y="1737360"/>
            <a:ext cx="4023360" cy="640080"/>
          </a:xfrm>
          <a:prstGeom prst="rect">
            <a:avLst/>
          </a:prstGeom>
          <a:solidFill>
            <a:srgbClr val="1E1E2E"/>
          </a:solidFill>
          <a:ln w="19050">
            <a:solidFill>
              <a:srgbClr val="1E1E2E"/>
            </a:solidFill>
            <a:prstDash val="solid"/>
          </a:ln>
        </p:spPr>
        <p:txBody>
          <a:bodyPr/>
          <a:lstStyle/>
          <a:p>
            <a:endParaRPr lang="de-AT"/>
          </a:p>
        </p:txBody>
      </p:sp>
      <p:sp>
        <p:nvSpPr>
          <p:cNvPr id="5" name="!!klasse-name"/>
          <p:cNvSpPr txBox="1"/>
          <p:nvPr/>
        </p:nvSpPr>
        <p:spPr>
          <a:xfrm>
            <a:off x="914400" y="1737360"/>
            <a:ext cx="4023360" cy="640080"/>
          </a:xfrm>
          <a:prstGeom prst="rect">
            <a:avLst/>
          </a:prstGeom>
          <a:noFill/>
          <a:ln/>
        </p:spPr>
        <p:txBody>
          <a:bodyPr wrap="square" lIns="0" tIns="0" rIns="0" bIns="0" rtlCol="0" anchor="ctr"/>
          <a:lstStyle/>
          <a:p>
            <a:pPr marL="0" indent="0" algn="ctr">
              <a:buNone/>
            </a:pPr>
            <a:r>
              <a:rPr lang="en-US" sz="2200" b="1" dirty="0">
                <a:solidFill>
                  <a:srgbClr val="4EC9B0"/>
                </a:solidFill>
                <a:latin typeface="Consolas" pitchFamily="34" charset="0"/>
                <a:ea typeface="Consolas" pitchFamily="34" charset="-122"/>
                <a:cs typeface="Consolas" pitchFamily="34" charset="-120"/>
              </a:rPr>
              <a:t>Kugel</a:t>
            </a:r>
            <a:endParaRPr lang="en-US" sz="2200" dirty="0"/>
          </a:p>
        </p:txBody>
      </p:sp>
      <p:sp>
        <p:nvSpPr>
          <p:cNvPr id="6" name="!!klasse-attr"/>
          <p:cNvSpPr/>
          <p:nvPr/>
        </p:nvSpPr>
        <p:spPr>
          <a:xfrm>
            <a:off x="914400" y="2377440"/>
            <a:ext cx="4023360" cy="594360"/>
          </a:xfrm>
          <a:prstGeom prst="rect">
            <a:avLst/>
          </a:prstGeom>
          <a:solidFill>
            <a:srgbClr val="F4F4F8"/>
          </a:solidFill>
          <a:ln w="19050">
            <a:solidFill>
              <a:srgbClr val="1E1E2E"/>
            </a:solidFill>
            <a:prstDash val="solid"/>
          </a:ln>
        </p:spPr>
        <p:txBody>
          <a:bodyPr/>
          <a:lstStyle/>
          <a:p>
            <a:endParaRPr lang="de-AT"/>
          </a:p>
        </p:txBody>
      </p:sp>
      <p:sp>
        <p:nvSpPr>
          <p:cNvPr id="7" name="!!klasse-attr-text"/>
          <p:cNvSpPr txBox="1"/>
          <p:nvPr/>
        </p:nvSpPr>
        <p:spPr>
          <a:xfrm>
            <a:off x="1143000" y="2377440"/>
            <a:ext cx="3566160" cy="594360"/>
          </a:xfrm>
          <a:prstGeom prst="rect">
            <a:avLst/>
          </a:prstGeom>
          <a:noFill/>
          <a:ln/>
        </p:spPr>
        <p:txBody>
          <a:bodyPr wrap="square" lIns="0" tIns="0" rIns="0" bIns="0" rtlCol="0" anchor="ctr"/>
          <a:lstStyle/>
          <a:p>
            <a:pPr marL="0" indent="0">
              <a:buNone/>
            </a:pPr>
            <a:r>
              <a:rPr lang="en-US" sz="1500" dirty="0">
                <a:solidFill>
                  <a:srgbClr val="1E1E2E"/>
                </a:solidFill>
                <a:latin typeface="Consolas" pitchFamily="34" charset="0"/>
                <a:ea typeface="Consolas" pitchFamily="34" charset="-122"/>
                <a:cs typeface="Consolas" pitchFamily="34" charset="-120"/>
              </a:rPr>
              <a:t>-  radius : double</a:t>
            </a:r>
            <a:endParaRPr lang="en-US" sz="1500" dirty="0"/>
          </a:p>
        </p:txBody>
      </p:sp>
      <p:sp>
        <p:nvSpPr>
          <p:cNvPr id="8" name="!!klasse-meth"/>
          <p:cNvSpPr/>
          <p:nvPr/>
        </p:nvSpPr>
        <p:spPr>
          <a:xfrm>
            <a:off x="914400" y="2971800"/>
            <a:ext cx="4023360" cy="1051560"/>
          </a:xfrm>
          <a:prstGeom prst="rect">
            <a:avLst/>
          </a:prstGeom>
          <a:solidFill>
            <a:srgbClr val="F4F4F8"/>
          </a:solidFill>
          <a:ln w="19050">
            <a:solidFill>
              <a:srgbClr val="1E1E2E"/>
            </a:solidFill>
            <a:prstDash val="solid"/>
          </a:ln>
        </p:spPr>
        <p:txBody>
          <a:bodyPr/>
          <a:lstStyle/>
          <a:p>
            <a:endParaRPr lang="de-AT"/>
          </a:p>
        </p:txBody>
      </p:sp>
      <p:sp>
        <p:nvSpPr>
          <p:cNvPr id="9" name="!!klasse-meth-text"/>
          <p:cNvSpPr txBox="1"/>
          <p:nvPr/>
        </p:nvSpPr>
        <p:spPr>
          <a:xfrm>
            <a:off x="1143000" y="2971800"/>
            <a:ext cx="3566160" cy="1051560"/>
          </a:xfrm>
          <a:prstGeom prst="rect">
            <a:avLst/>
          </a:prstGeom>
          <a:noFill/>
          <a:ln/>
        </p:spPr>
        <p:txBody>
          <a:bodyPr wrap="square" lIns="0" tIns="0" rIns="0" bIns="0" rtlCol="0" anchor="ctr"/>
          <a:lstStyle/>
          <a:p>
            <a:pPr marL="0" indent="0">
              <a:lnSpc>
                <a:spcPct val="130000"/>
              </a:lnSpc>
              <a:buNone/>
            </a:pPr>
            <a:r>
              <a:rPr lang="en-US" sz="1500" dirty="0">
                <a:solidFill>
                  <a:srgbClr val="1E1E2E"/>
                </a:solidFill>
                <a:latin typeface="Consolas" pitchFamily="34" charset="0"/>
                <a:ea typeface="Consolas" pitchFamily="34" charset="-122"/>
                <a:cs typeface="Consolas" pitchFamily="34" charset="-120"/>
              </a:rPr>
              <a:t>+  Volumen() : double</a:t>
            </a:r>
            <a:endParaRPr lang="en-US" sz="1500" dirty="0"/>
          </a:p>
          <a:p>
            <a:pPr marL="0" indent="0">
              <a:lnSpc>
                <a:spcPct val="130000"/>
              </a:lnSpc>
              <a:buNone/>
            </a:pPr>
            <a:r>
              <a:rPr lang="en-US" sz="1500">
                <a:solidFill>
                  <a:srgbClr val="1E1E2E"/>
                </a:solidFill>
                <a:latin typeface="Consolas"/>
                <a:ea typeface="Consolas" pitchFamily="34" charset="-122"/>
                <a:cs typeface="Consolas" pitchFamily="34" charset="-120"/>
              </a:rPr>
              <a:t>+  Oberflaeche() : double</a:t>
            </a:r>
            <a:endParaRPr lang="en-US" sz="1500">
              <a:latin typeface="Consolas"/>
            </a:endParaRPr>
          </a:p>
        </p:txBody>
      </p:sp>
      <p:sp>
        <p:nvSpPr>
          <p:cNvPr id="10" name="Text 8"/>
          <p:cNvSpPr txBox="1"/>
          <p:nvPr/>
        </p:nvSpPr>
        <p:spPr>
          <a:xfrm>
            <a:off x="5760720" y="1737360"/>
            <a:ext cx="5486400" cy="457200"/>
          </a:xfrm>
          <a:prstGeom prst="rect">
            <a:avLst/>
          </a:prstGeom>
          <a:noFill/>
          <a:ln/>
        </p:spPr>
        <p:txBody>
          <a:bodyPr wrap="square" lIns="0" tIns="0" rIns="0" bIns="0" rtlCol="0" anchor="ctr"/>
          <a:lstStyle/>
          <a:p>
            <a:pPr marL="0" indent="0">
              <a:buNone/>
            </a:pPr>
            <a:r>
              <a:rPr lang="en-US" sz="2000" b="1" dirty="0">
                <a:solidFill>
                  <a:srgbClr val="1E1E2E"/>
                </a:solidFill>
                <a:latin typeface="Calibri" pitchFamily="34" charset="0"/>
                <a:ea typeface="Calibri" pitchFamily="34" charset="-122"/>
                <a:cs typeface="Calibri" pitchFamily="34" charset="-120"/>
              </a:rPr>
              <a:t>Sichtbarkeit</a:t>
            </a:r>
            <a:endParaRPr lang="en-US" sz="2000" dirty="0"/>
          </a:p>
        </p:txBody>
      </p:sp>
      <p:sp>
        <p:nvSpPr>
          <p:cNvPr id="11" name="Text 9"/>
          <p:cNvSpPr txBox="1"/>
          <p:nvPr/>
        </p:nvSpPr>
        <p:spPr>
          <a:xfrm>
            <a:off x="5760720" y="2286000"/>
            <a:ext cx="457200" cy="457200"/>
          </a:xfrm>
          <a:prstGeom prst="rect">
            <a:avLst/>
          </a:prstGeom>
          <a:noFill/>
          <a:ln/>
        </p:spPr>
        <p:txBody>
          <a:bodyPr wrap="square" lIns="0" tIns="0" rIns="0" bIns="0" rtlCol="0" anchor="ctr"/>
          <a:lstStyle/>
          <a:p>
            <a:pPr marL="0" indent="0">
              <a:buNone/>
            </a:pPr>
            <a:r>
              <a:rPr lang="en-US" sz="2600" b="1" dirty="0">
                <a:solidFill>
                  <a:srgbClr val="4EC9B0"/>
                </a:solidFill>
                <a:latin typeface="Consolas" pitchFamily="34" charset="0"/>
                <a:ea typeface="Consolas" pitchFamily="34" charset="-122"/>
                <a:cs typeface="Consolas" pitchFamily="34" charset="-120"/>
              </a:rPr>
              <a:t>+</a:t>
            </a:r>
            <a:endParaRPr lang="en-US" sz="2600" dirty="0"/>
          </a:p>
        </p:txBody>
      </p:sp>
      <p:sp>
        <p:nvSpPr>
          <p:cNvPr id="12" name="Text 10"/>
          <p:cNvSpPr txBox="1"/>
          <p:nvPr/>
        </p:nvSpPr>
        <p:spPr>
          <a:xfrm>
            <a:off x="6309360" y="2313432"/>
            <a:ext cx="4846320" cy="457200"/>
          </a:xfrm>
          <a:prstGeom prst="rect">
            <a:avLst/>
          </a:prstGeom>
          <a:noFill/>
          <a:ln/>
        </p:spPr>
        <p:txBody>
          <a:bodyPr wrap="square" lIns="0" tIns="0" rIns="0" bIns="0" rtlCol="0" anchor="ctr"/>
          <a:lstStyle/>
          <a:p>
            <a:pPr marL="0" indent="0">
              <a:buNone/>
            </a:pPr>
            <a:r>
              <a:rPr lang="en-US" sz="1700" dirty="0">
                <a:solidFill>
                  <a:srgbClr val="1E1E2E"/>
                </a:solidFill>
                <a:latin typeface="Calibri" pitchFamily="34" charset="0"/>
                <a:ea typeface="Calibri" pitchFamily="34" charset="-122"/>
                <a:cs typeface="Calibri" pitchFamily="34" charset="-120"/>
              </a:rPr>
              <a:t>public — überall sichtbar</a:t>
            </a:r>
            <a:endParaRPr lang="en-US" sz="1700" dirty="0"/>
          </a:p>
        </p:txBody>
      </p:sp>
      <p:sp>
        <p:nvSpPr>
          <p:cNvPr id="13" name="Text 11"/>
          <p:cNvSpPr txBox="1"/>
          <p:nvPr/>
        </p:nvSpPr>
        <p:spPr>
          <a:xfrm>
            <a:off x="5760720" y="2880360"/>
            <a:ext cx="457200" cy="457200"/>
          </a:xfrm>
          <a:prstGeom prst="rect">
            <a:avLst/>
          </a:prstGeom>
          <a:noFill/>
          <a:ln/>
        </p:spPr>
        <p:txBody>
          <a:bodyPr wrap="square" lIns="0" tIns="0" rIns="0" bIns="0" rtlCol="0" anchor="ctr"/>
          <a:lstStyle/>
          <a:p>
            <a:pPr marL="0" indent="0">
              <a:buNone/>
            </a:pPr>
            <a:r>
              <a:rPr lang="en-US" sz="2600" b="1" dirty="0">
                <a:solidFill>
                  <a:srgbClr val="C586C0"/>
                </a:solidFill>
                <a:latin typeface="Consolas" pitchFamily="34" charset="0"/>
                <a:ea typeface="Consolas" pitchFamily="34" charset="-122"/>
                <a:cs typeface="Consolas" pitchFamily="34" charset="-120"/>
              </a:rPr>
              <a:t>–</a:t>
            </a:r>
            <a:endParaRPr lang="en-US" sz="2600" dirty="0"/>
          </a:p>
        </p:txBody>
      </p:sp>
      <p:sp>
        <p:nvSpPr>
          <p:cNvPr id="14" name="Text 12"/>
          <p:cNvSpPr txBox="1"/>
          <p:nvPr/>
        </p:nvSpPr>
        <p:spPr>
          <a:xfrm>
            <a:off x="6309360" y="2907792"/>
            <a:ext cx="4846320" cy="457200"/>
          </a:xfrm>
          <a:prstGeom prst="rect">
            <a:avLst/>
          </a:prstGeom>
          <a:noFill/>
          <a:ln/>
        </p:spPr>
        <p:txBody>
          <a:bodyPr wrap="square" lIns="0" tIns="0" rIns="0" bIns="0" rtlCol="0" anchor="ctr"/>
          <a:lstStyle/>
          <a:p>
            <a:pPr marL="0" indent="0">
              <a:buNone/>
            </a:pPr>
            <a:r>
              <a:rPr lang="en-US" sz="1700" dirty="0">
                <a:solidFill>
                  <a:srgbClr val="1E1E2E"/>
                </a:solidFill>
                <a:latin typeface="Calibri" pitchFamily="34" charset="0"/>
                <a:ea typeface="Calibri" pitchFamily="34" charset="-122"/>
                <a:cs typeface="Calibri" pitchFamily="34" charset="-120"/>
              </a:rPr>
              <a:t>private — nur in der Klasse </a:t>
            </a:r>
            <a:r>
              <a:rPr lang="en-US" sz="1700" dirty="0" err="1">
                <a:solidFill>
                  <a:srgbClr val="1E1E2E"/>
                </a:solidFill>
                <a:latin typeface="Calibri" pitchFamily="34" charset="0"/>
                <a:ea typeface="Calibri" pitchFamily="34" charset="-122"/>
                <a:cs typeface="Calibri" pitchFamily="34" charset="-120"/>
              </a:rPr>
              <a:t>sichtbar</a:t>
            </a:r>
            <a:endParaRPr lang="en-US" sz="1700" dirty="0"/>
          </a:p>
        </p:txBody>
      </p:sp>
      <p:sp>
        <p:nvSpPr>
          <p:cNvPr id="15" name="Text 13"/>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1000" dirty="0">
                <a:solidFill>
                  <a:srgbClr val="B0B0B0"/>
                </a:solidFill>
                <a:latin typeface="Calibri" pitchFamily="34" charset="0"/>
                <a:ea typeface="Calibri" pitchFamily="34" charset="-122"/>
                <a:cs typeface="Calibri" pitchFamily="34" charset="-120"/>
              </a:rPr>
              <a:t>Klassendiagramme · Kaltenbrunner &amp; Spring</a:t>
            </a:r>
            <a:endParaRPr lang="en-US" sz="1000" dirty="0"/>
          </a:p>
        </p:txBody>
      </p:sp>
      <p:sp>
        <p:nvSpPr>
          <p:cNvPr id="16" name="Textfeld 15">
            <a:extLst>
              <a:ext uri="{FF2B5EF4-FFF2-40B4-BE49-F238E27FC236}">
                <a16:creationId xmlns:a16="http://schemas.microsoft.com/office/drawing/2014/main" id="{F2FD2D26-5A1E-8D97-8C1E-05849845E999}"/>
              </a:ext>
            </a:extLst>
          </p:cNvPr>
          <p:cNvSpPr txBox="1"/>
          <p:nvPr/>
        </p:nvSpPr>
        <p:spPr>
          <a:xfrm>
            <a:off x="5422670" y="702988"/>
            <a:ext cx="1590500" cy="400110"/>
          </a:xfrm>
          <a:prstGeom prst="rect">
            <a:avLst/>
          </a:prstGeom>
          <a:noFill/>
        </p:spPr>
        <p:txBody>
          <a:bodyPr wrap="none" rtlCol="0">
            <a:spAutoFit/>
          </a:bodyPr>
          <a:lstStyle/>
          <a:p>
            <a:r>
              <a:rPr lang="de-DE" sz="2000" b="1" dirty="0">
                <a:solidFill>
                  <a:srgbClr val="0070C0"/>
                </a:solidFill>
              </a:rPr>
              <a:t>Klassenname</a:t>
            </a:r>
            <a:endParaRPr lang="de-DE" b="1" dirty="0">
              <a:solidFill>
                <a:srgbClr val="0070C0"/>
              </a:solidFill>
            </a:endParaRPr>
          </a:p>
        </p:txBody>
      </p:sp>
      <p:sp>
        <p:nvSpPr>
          <p:cNvPr id="18" name="Textfeld 17">
            <a:extLst>
              <a:ext uri="{FF2B5EF4-FFF2-40B4-BE49-F238E27FC236}">
                <a16:creationId xmlns:a16="http://schemas.microsoft.com/office/drawing/2014/main" id="{01B212A0-8BD6-68D5-0655-C483EDB8BD8A}"/>
              </a:ext>
            </a:extLst>
          </p:cNvPr>
          <p:cNvSpPr txBox="1"/>
          <p:nvPr/>
        </p:nvSpPr>
        <p:spPr>
          <a:xfrm>
            <a:off x="5989320" y="4567182"/>
            <a:ext cx="1198020" cy="400110"/>
          </a:xfrm>
          <a:prstGeom prst="rect">
            <a:avLst/>
          </a:prstGeom>
          <a:noFill/>
        </p:spPr>
        <p:txBody>
          <a:bodyPr wrap="none" rtlCol="0">
            <a:spAutoFit/>
          </a:bodyPr>
          <a:lstStyle/>
          <a:p>
            <a:r>
              <a:rPr lang="de-DE" sz="2000" b="1" dirty="0">
                <a:solidFill>
                  <a:srgbClr val="0070C0"/>
                </a:solidFill>
              </a:rPr>
              <a:t>Attribute</a:t>
            </a:r>
            <a:endParaRPr lang="de-DE" b="1" dirty="0">
              <a:solidFill>
                <a:srgbClr val="0070C0"/>
              </a:solidFill>
            </a:endParaRPr>
          </a:p>
        </p:txBody>
      </p:sp>
      <p:sp>
        <p:nvSpPr>
          <p:cNvPr id="20" name="Textfeld 19">
            <a:extLst>
              <a:ext uri="{FF2B5EF4-FFF2-40B4-BE49-F238E27FC236}">
                <a16:creationId xmlns:a16="http://schemas.microsoft.com/office/drawing/2014/main" id="{144C76AB-7C92-26E1-6DC5-066D1832F9CD}"/>
              </a:ext>
            </a:extLst>
          </p:cNvPr>
          <p:cNvSpPr txBox="1"/>
          <p:nvPr/>
        </p:nvSpPr>
        <p:spPr>
          <a:xfrm>
            <a:off x="3063240" y="4738625"/>
            <a:ext cx="1188720" cy="400110"/>
          </a:xfrm>
          <a:prstGeom prst="rect">
            <a:avLst/>
          </a:prstGeom>
          <a:noFill/>
        </p:spPr>
        <p:txBody>
          <a:bodyPr wrap="none" rtlCol="0">
            <a:spAutoFit/>
          </a:bodyPr>
          <a:lstStyle/>
          <a:p>
            <a:r>
              <a:rPr lang="de-DE" sz="2000" b="1" dirty="0">
                <a:solidFill>
                  <a:srgbClr val="0070C0"/>
                </a:solidFill>
              </a:rPr>
              <a:t>Methoden</a:t>
            </a:r>
            <a:endParaRPr lang="de-DE" b="1" dirty="0">
              <a:solidFill>
                <a:srgbClr val="0070C0"/>
              </a:solidFill>
            </a:endParaRPr>
          </a:p>
        </p:txBody>
      </p:sp>
      <p:cxnSp>
        <p:nvCxnSpPr>
          <p:cNvPr id="22" name="Gerade Verbindung mit Pfeil 21">
            <a:extLst>
              <a:ext uri="{FF2B5EF4-FFF2-40B4-BE49-F238E27FC236}">
                <a16:creationId xmlns:a16="http://schemas.microsoft.com/office/drawing/2014/main" id="{023B7444-8CE0-F021-15C1-23F3F73227A9}"/>
              </a:ext>
            </a:extLst>
          </p:cNvPr>
          <p:cNvCxnSpPr>
            <a:cxnSpLocks/>
            <a:stCxn id="16" idx="1"/>
          </p:cNvCxnSpPr>
          <p:nvPr/>
        </p:nvCxnSpPr>
        <p:spPr>
          <a:xfrm flipH="1">
            <a:off x="4293973" y="903043"/>
            <a:ext cx="1128697" cy="1049683"/>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7" name="Gerade Verbindung mit Pfeil 26">
            <a:extLst>
              <a:ext uri="{FF2B5EF4-FFF2-40B4-BE49-F238E27FC236}">
                <a16:creationId xmlns:a16="http://schemas.microsoft.com/office/drawing/2014/main" id="{D89E4E98-1C38-644A-5354-860EBDDEB61E}"/>
              </a:ext>
            </a:extLst>
          </p:cNvPr>
          <p:cNvCxnSpPr>
            <a:cxnSpLocks/>
          </p:cNvCxnSpPr>
          <p:nvPr/>
        </p:nvCxnSpPr>
        <p:spPr>
          <a:xfrm flipH="1" flipV="1">
            <a:off x="3865932" y="2770868"/>
            <a:ext cx="2351988" cy="174206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8" name="Gerade Verbindung mit Pfeil 27">
            <a:extLst>
              <a:ext uri="{FF2B5EF4-FFF2-40B4-BE49-F238E27FC236}">
                <a16:creationId xmlns:a16="http://schemas.microsoft.com/office/drawing/2014/main" id="{756B589D-1C4E-205C-62D8-8DD9514D00C0}"/>
              </a:ext>
            </a:extLst>
          </p:cNvPr>
          <p:cNvCxnSpPr>
            <a:cxnSpLocks/>
          </p:cNvCxnSpPr>
          <p:nvPr/>
        </p:nvCxnSpPr>
        <p:spPr>
          <a:xfrm flipV="1">
            <a:off x="3687136" y="3642502"/>
            <a:ext cx="477091" cy="1096123"/>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103" name="Text 103"/>
          <p:cNvSpPr txBox="1"/>
          <p:nvPr/>
        </p:nvSpPr>
        <p:spPr>
          <a:xfrm>
            <a:off x="5760720" y="3474720"/>
            <a:ext cx="457200" cy="457200"/>
          </a:xfrm>
          <a:prstGeom prst="rect">
            <a:avLst/>
          </a:prstGeom>
          <a:noFill/>
        </p:spPr>
        <p:txBody>
          <a:bodyPr wrap="square" lIns="0" tIns="0" rIns="0" bIns="0" rtlCol="0" anchor="ctr"/>
          <a:lstStyle/>
          <a:p>
            <a:pPr marL="0" indent="0" algn="l">
              <a:buNone/>
            </a:pPr>
            <a:r>
              <a:rPr lang="de-AT" sz="2600" b="1">
                <a:solidFill>
                  <a:srgbClr val="569CD6"/>
                </a:solidFill>
                <a:latin typeface="Consolas"/>
                <a:ea typeface="Consolas"/>
                <a:cs typeface="Consolas"/>
              </a:rPr>
              <a:t>#</a:t>
            </a:r>
          </a:p>
        </p:txBody>
      </p:sp>
      <p:sp>
        <p:nvSpPr>
          <p:cNvPr id="104" name="Text 104"/>
          <p:cNvSpPr txBox="1"/>
          <p:nvPr/>
        </p:nvSpPr>
        <p:spPr>
          <a:xfrm>
            <a:off x="6309360" y="3502152"/>
            <a:ext cx="4846320" cy="457200"/>
          </a:xfrm>
          <a:prstGeom prst="rect">
            <a:avLst/>
          </a:prstGeom>
          <a:noFill/>
        </p:spPr>
        <p:txBody>
          <a:bodyPr wrap="square" lIns="0" tIns="0" rIns="0" bIns="0" rtlCol="0" anchor="ctr"/>
          <a:lstStyle/>
          <a:p>
            <a:pPr marL="0" indent="0" algn="l">
              <a:buNone/>
            </a:pPr>
            <a:r>
              <a:rPr lang="de-AT" sz="1700">
                <a:solidFill>
                  <a:srgbClr val="1E1E2E"/>
                </a:solidFill>
                <a:latin typeface="Calibri"/>
                <a:ea typeface="Calibri"/>
                <a:cs typeface="Calibri"/>
              </a:rPr>
              <a:t>protected — in Klasse und Unterklassen sichtbar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05" name="!!bg"/>
          <p:cNvSpPr/>
          <p:nvPr/>
        </p:nvSpPr>
        <p:spPr>
          <a:xfrm>
            <a:off x="0" y="0"/>
            <a:ext cx="12188952" cy="6858000"/>
          </a:xfrm>
          <a:prstGeom prst="rect">
            <a:avLst/>
          </a:prstGeom>
          <a:solidFill>
            <a:srgbClr val="FFFFFF"/>
          </a:solidFill>
          <a:ln>
            <a:noFill/>
          </a:ln>
        </p:spPr>
        <p:txBody>
          <a:bodyPr/>
          <a:lstStyle/>
          <a:p>
            <a:endParaRPr lang="de-AT"/>
          </a:p>
        </p:txBody>
      </p:sp>
      <p:sp>
        <p:nvSpPr>
          <p:cNvPr id="106" name="!!title"/>
          <p:cNvSpPr txBox="1"/>
          <p:nvPr/>
        </p:nvSpPr>
        <p:spPr>
          <a:xfrm>
            <a:off x="548640" y="411480"/>
            <a:ext cx="10515600" cy="731520"/>
          </a:xfrm>
          <a:prstGeom prst="rect">
            <a:avLst/>
          </a:prstGeom>
          <a:noFill/>
        </p:spPr>
        <p:txBody>
          <a:bodyPr wrap="square" lIns="0" tIns="0" rIns="0" bIns="0" rtlCol="0" anchor="ctr"/>
          <a:lstStyle/>
          <a:p>
            <a:pPr marL="0" indent="0" algn="l">
              <a:buNone/>
            </a:pPr>
            <a:r>
              <a:rPr lang="de-AT" sz="3400" b="1">
                <a:solidFill>
                  <a:srgbClr val="1E1E2E"/>
                </a:solidFill>
                <a:latin typeface="Calibri"/>
                <a:ea typeface="Calibri"/>
                <a:cs typeface="Calibri"/>
              </a:rPr>
              <a:t>Die wichtigsten Beziehungen</a:t>
            </a:r>
          </a:p>
        </p:txBody>
      </p:sp>
      <p:sp>
        <p:nvSpPr>
          <p:cNvPr id="107" name="Shape 107"/>
          <p:cNvSpPr/>
          <p:nvPr/>
        </p:nvSpPr>
        <p:spPr>
          <a:xfrm>
            <a:off x="640080" y="2084832"/>
            <a:ext cx="1280160" cy="0"/>
          </a:xfrm>
          <a:prstGeom prst="line">
            <a:avLst/>
          </a:prstGeom>
          <a:noFill/>
          <a:ln w="38100">
            <a:solidFill>
              <a:srgbClr val="569CD6"/>
            </a:solidFill>
          </a:ln>
        </p:spPr>
        <p:txBody>
          <a:bodyPr/>
          <a:lstStyle/>
          <a:p>
            <a:endParaRPr lang="de-AT"/>
          </a:p>
        </p:txBody>
      </p:sp>
      <p:sp>
        <p:nvSpPr>
          <p:cNvPr id="108" name="Shape 108"/>
          <p:cNvSpPr/>
          <p:nvPr/>
        </p:nvSpPr>
        <p:spPr>
          <a:xfrm rot="5400000">
            <a:off x="1897380" y="1993392"/>
            <a:ext cx="228600" cy="182880"/>
          </a:xfrm>
          <a:prstGeom prst="triangle">
            <a:avLst/>
          </a:prstGeom>
          <a:solidFill>
            <a:srgbClr val="FFFFFF"/>
          </a:solidFill>
          <a:ln w="22225">
            <a:solidFill>
              <a:srgbClr val="569CD6"/>
            </a:solidFill>
          </a:ln>
        </p:spPr>
        <p:txBody>
          <a:bodyPr/>
          <a:lstStyle/>
          <a:p>
            <a:endParaRPr lang="de-AT"/>
          </a:p>
        </p:txBody>
      </p:sp>
      <p:sp>
        <p:nvSpPr>
          <p:cNvPr id="109" name="Text 109"/>
          <p:cNvSpPr txBox="1"/>
          <p:nvPr/>
        </p:nvSpPr>
        <p:spPr>
          <a:xfrm>
            <a:off x="2377440" y="1856232"/>
            <a:ext cx="2743200" cy="457200"/>
          </a:xfrm>
          <a:prstGeom prst="rect">
            <a:avLst/>
          </a:prstGeom>
          <a:noFill/>
        </p:spPr>
        <p:txBody>
          <a:bodyPr wrap="square" lIns="0" tIns="0" rIns="0" bIns="0" rtlCol="0" anchor="ctr"/>
          <a:lstStyle/>
          <a:p>
            <a:pPr marL="0" indent="0" algn="l">
              <a:buNone/>
            </a:pPr>
            <a:r>
              <a:rPr lang="de-AT" sz="2000" b="1">
                <a:solidFill>
                  <a:srgbClr val="569CD6"/>
                </a:solidFill>
                <a:latin typeface="Calibri"/>
                <a:ea typeface="Calibri"/>
                <a:cs typeface="Calibri"/>
              </a:rPr>
              <a:t>Vererbung</a:t>
            </a:r>
          </a:p>
        </p:txBody>
      </p:sp>
      <p:sp>
        <p:nvSpPr>
          <p:cNvPr id="110" name="Text 110"/>
          <p:cNvSpPr txBox="1"/>
          <p:nvPr/>
        </p:nvSpPr>
        <p:spPr>
          <a:xfrm>
            <a:off x="5212080" y="1856232"/>
            <a:ext cx="6400800" cy="457200"/>
          </a:xfrm>
          <a:prstGeom prst="rect">
            <a:avLst/>
          </a:prstGeom>
          <a:noFill/>
        </p:spPr>
        <p:txBody>
          <a:bodyPr wrap="square" lIns="0" tIns="0" rIns="0" bIns="0" rtlCol="0" anchor="ctr"/>
          <a:lstStyle/>
          <a:p>
            <a:pPr marL="0" indent="0" algn="l">
              <a:buNone/>
            </a:pPr>
            <a:r>
              <a:rPr lang="de-AT" sz="1600">
                <a:solidFill>
                  <a:srgbClr val="1E1E2E"/>
                </a:solidFill>
                <a:latin typeface="Calibri"/>
                <a:ea typeface="Calibri"/>
                <a:cs typeface="Calibri"/>
              </a:rPr>
              <a:t>erbt von — z.B. Kugel → Figur</a:t>
            </a:r>
          </a:p>
        </p:txBody>
      </p:sp>
      <p:sp>
        <p:nvSpPr>
          <p:cNvPr id="111" name="Shape 111"/>
          <p:cNvSpPr/>
          <p:nvPr/>
        </p:nvSpPr>
        <p:spPr>
          <a:xfrm>
            <a:off x="640080" y="3273552"/>
            <a:ext cx="1280160" cy="0"/>
          </a:xfrm>
          <a:prstGeom prst="line">
            <a:avLst/>
          </a:prstGeom>
          <a:noFill/>
          <a:ln w="38100">
            <a:solidFill>
              <a:srgbClr val="C586C0"/>
            </a:solidFill>
            <a:prstDash val="dash"/>
          </a:ln>
        </p:spPr>
        <p:txBody>
          <a:bodyPr/>
          <a:lstStyle/>
          <a:p>
            <a:endParaRPr lang="de-AT"/>
          </a:p>
        </p:txBody>
      </p:sp>
      <p:sp>
        <p:nvSpPr>
          <p:cNvPr id="112" name="Shape 112"/>
          <p:cNvSpPr/>
          <p:nvPr/>
        </p:nvSpPr>
        <p:spPr>
          <a:xfrm rot="5400000">
            <a:off x="1897380" y="3182112"/>
            <a:ext cx="228600" cy="182880"/>
          </a:xfrm>
          <a:prstGeom prst="triangle">
            <a:avLst/>
          </a:prstGeom>
          <a:solidFill>
            <a:srgbClr val="FFFFFF"/>
          </a:solidFill>
          <a:ln w="22225">
            <a:solidFill>
              <a:srgbClr val="C586C0"/>
            </a:solidFill>
          </a:ln>
        </p:spPr>
        <p:txBody>
          <a:bodyPr/>
          <a:lstStyle/>
          <a:p>
            <a:endParaRPr lang="de-AT"/>
          </a:p>
        </p:txBody>
      </p:sp>
      <p:sp>
        <p:nvSpPr>
          <p:cNvPr id="113" name="Text 113"/>
          <p:cNvSpPr txBox="1"/>
          <p:nvPr/>
        </p:nvSpPr>
        <p:spPr>
          <a:xfrm>
            <a:off x="2377440" y="3044952"/>
            <a:ext cx="2743200" cy="457200"/>
          </a:xfrm>
          <a:prstGeom prst="rect">
            <a:avLst/>
          </a:prstGeom>
          <a:noFill/>
        </p:spPr>
        <p:txBody>
          <a:bodyPr wrap="square" lIns="0" tIns="0" rIns="0" bIns="0" rtlCol="0" anchor="ctr"/>
          <a:lstStyle/>
          <a:p>
            <a:pPr marL="0" indent="0" algn="l">
              <a:buNone/>
            </a:pPr>
            <a:r>
              <a:rPr lang="de-AT" sz="2000" b="1">
                <a:solidFill>
                  <a:srgbClr val="C586C0"/>
                </a:solidFill>
                <a:latin typeface="Calibri"/>
                <a:ea typeface="Calibri"/>
                <a:cs typeface="Calibri"/>
              </a:rPr>
              <a:t>Realisierung</a:t>
            </a:r>
          </a:p>
        </p:txBody>
      </p:sp>
      <p:sp>
        <p:nvSpPr>
          <p:cNvPr id="114" name="Text 114"/>
          <p:cNvSpPr txBox="1"/>
          <p:nvPr/>
        </p:nvSpPr>
        <p:spPr>
          <a:xfrm>
            <a:off x="5212080" y="3044952"/>
            <a:ext cx="6400800" cy="457200"/>
          </a:xfrm>
          <a:prstGeom prst="rect">
            <a:avLst/>
          </a:prstGeom>
          <a:noFill/>
        </p:spPr>
        <p:txBody>
          <a:bodyPr wrap="square" lIns="0" tIns="0" rIns="0" bIns="0" rtlCol="0" anchor="ctr"/>
          <a:lstStyle/>
          <a:p>
            <a:pPr marL="0" indent="0" algn="l">
              <a:buNone/>
            </a:pPr>
            <a:r>
              <a:rPr lang="de-AT" sz="1600">
                <a:solidFill>
                  <a:srgbClr val="1E1E2E"/>
                </a:solidFill>
                <a:latin typeface="Calibri"/>
                <a:ea typeface="Calibri"/>
                <a:cs typeface="Calibri"/>
              </a:rPr>
              <a:t>implementiert ein Interface — z.B. Figur → IFigur</a:t>
            </a:r>
          </a:p>
        </p:txBody>
      </p:sp>
      <p:sp>
        <p:nvSpPr>
          <p:cNvPr id="115" name="Shape 115"/>
          <p:cNvSpPr/>
          <p:nvPr/>
        </p:nvSpPr>
        <p:spPr>
          <a:xfrm>
            <a:off x="640080" y="4462272"/>
            <a:ext cx="1463040" cy="0"/>
          </a:xfrm>
          <a:prstGeom prst="line">
            <a:avLst/>
          </a:prstGeom>
          <a:noFill/>
          <a:ln w="38100">
            <a:solidFill>
              <a:srgbClr val="4EC9B0"/>
            </a:solidFill>
          </a:ln>
        </p:spPr>
        <p:txBody>
          <a:bodyPr/>
          <a:lstStyle/>
          <a:p>
            <a:endParaRPr lang="de-AT"/>
          </a:p>
        </p:txBody>
      </p:sp>
      <p:sp>
        <p:nvSpPr>
          <p:cNvPr id="116" name="Text 116"/>
          <p:cNvSpPr txBox="1"/>
          <p:nvPr/>
        </p:nvSpPr>
        <p:spPr>
          <a:xfrm>
            <a:off x="2377440" y="4233672"/>
            <a:ext cx="2743200" cy="457200"/>
          </a:xfrm>
          <a:prstGeom prst="rect">
            <a:avLst/>
          </a:prstGeom>
          <a:noFill/>
        </p:spPr>
        <p:txBody>
          <a:bodyPr wrap="square" lIns="0" tIns="0" rIns="0" bIns="0" rtlCol="0" anchor="ctr"/>
          <a:lstStyle/>
          <a:p>
            <a:pPr marL="0" indent="0" algn="l">
              <a:buNone/>
            </a:pPr>
            <a:r>
              <a:rPr lang="de-AT" sz="2000" b="1">
                <a:solidFill>
                  <a:srgbClr val="4EC9B0"/>
                </a:solidFill>
                <a:latin typeface="Calibri"/>
                <a:ea typeface="Calibri"/>
                <a:cs typeface="Calibri"/>
              </a:rPr>
              <a:t>Assoziation</a:t>
            </a:r>
          </a:p>
        </p:txBody>
      </p:sp>
      <p:sp>
        <p:nvSpPr>
          <p:cNvPr id="117" name="Text 117"/>
          <p:cNvSpPr txBox="1"/>
          <p:nvPr/>
        </p:nvSpPr>
        <p:spPr>
          <a:xfrm>
            <a:off x="5212080" y="4233672"/>
            <a:ext cx="6400800" cy="457200"/>
          </a:xfrm>
          <a:prstGeom prst="rect">
            <a:avLst/>
          </a:prstGeom>
          <a:noFill/>
        </p:spPr>
        <p:txBody>
          <a:bodyPr wrap="square" lIns="0" tIns="0" rIns="0" bIns="0" rtlCol="0" anchor="ctr"/>
          <a:lstStyle/>
          <a:p>
            <a:pPr marL="0" indent="0" algn="l">
              <a:buNone/>
            </a:pPr>
            <a:r>
              <a:rPr lang="de-AT" sz="1600">
                <a:solidFill>
                  <a:srgbClr val="1E1E2E"/>
                </a:solidFill>
                <a:latin typeface="Calibri"/>
                <a:ea typeface="Calibri"/>
                <a:cs typeface="Calibri"/>
              </a:rPr>
              <a:t>kennt / verwendet eine andere Klasse — z.B. Rechner → IFigur</a:t>
            </a:r>
          </a:p>
        </p:txBody>
      </p:sp>
      <p:sp>
        <p:nvSpPr>
          <p:cNvPr id="119" name="Text 119"/>
          <p:cNvSpPr txBox="1"/>
          <p:nvPr/>
        </p:nvSpPr>
        <p:spPr>
          <a:xfrm>
            <a:off x="457200" y="6537960"/>
            <a:ext cx="7315200" cy="274320"/>
          </a:xfrm>
          <a:prstGeom prst="rect">
            <a:avLst/>
          </a:prstGeom>
          <a:noFill/>
        </p:spPr>
        <p:txBody>
          <a:bodyPr wrap="square" lIns="0" tIns="0" rIns="0" bIns="0" rtlCol="0" anchor="ctr"/>
          <a:lstStyle/>
          <a:p>
            <a:pPr marL="0" indent="0" algn="l">
              <a:buNone/>
            </a:pPr>
            <a:r>
              <a:rPr lang="de-AT" sz="1000">
                <a:solidFill>
                  <a:srgbClr val="B0B0B0"/>
                </a:solidFill>
                <a:latin typeface="Calibri"/>
                <a:ea typeface="Calibri"/>
                <a:cs typeface="Calibri"/>
              </a:rPr>
              <a:t>Klassendiagramme · Kaltenbrunner &amp; Spring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01" name="!!bg"/>
          <p:cNvSpPr/>
          <p:nvPr/>
        </p:nvSpPr>
        <p:spPr>
          <a:xfrm>
            <a:off x="0" y="0"/>
            <a:ext cx="12188952" cy="6858000"/>
          </a:xfrm>
          <a:prstGeom prst="rect">
            <a:avLst/>
          </a:prstGeom>
          <a:solidFill>
            <a:srgbClr val="FFFFFF"/>
          </a:solidFill>
          <a:ln>
            <a:noFill/>
          </a:ln>
        </p:spPr>
        <p:txBody>
          <a:bodyPr/>
          <a:lstStyle/>
          <a:p>
            <a:endParaRPr lang="de-AT"/>
          </a:p>
        </p:txBody>
      </p:sp>
      <p:sp>
        <p:nvSpPr>
          <p:cNvPr id="102" name="!!title"/>
          <p:cNvSpPr txBox="1"/>
          <p:nvPr/>
        </p:nvSpPr>
        <p:spPr>
          <a:xfrm>
            <a:off x="548640" y="411480"/>
            <a:ext cx="10515600" cy="731520"/>
          </a:xfrm>
          <a:prstGeom prst="rect">
            <a:avLst/>
          </a:prstGeom>
          <a:noFill/>
        </p:spPr>
        <p:txBody>
          <a:bodyPr wrap="square" lIns="0" tIns="0" rIns="0" bIns="0" rtlCol="0" anchor="ctr"/>
          <a:lstStyle/>
          <a:p>
            <a:pPr marL="0" indent="0" algn="l">
              <a:buNone/>
            </a:pPr>
            <a:r>
              <a:rPr lang="de-AT" sz="3400" b="1">
                <a:solidFill>
                  <a:srgbClr val="1E1E2E"/>
                </a:solidFill>
                <a:latin typeface="Calibri"/>
                <a:ea typeface="Calibri"/>
                <a:cs typeface="Calibri"/>
              </a:rPr>
              <a:t>Aggregation &amp; Komposition</a:t>
            </a:r>
          </a:p>
        </p:txBody>
      </p:sp>
      <p:sp>
        <p:nvSpPr>
          <p:cNvPr id="103" name="Text 103"/>
          <p:cNvSpPr txBox="1"/>
          <p:nvPr/>
        </p:nvSpPr>
        <p:spPr>
          <a:xfrm>
            <a:off x="548640" y="1097280"/>
            <a:ext cx="10515600" cy="365760"/>
          </a:xfrm>
          <a:prstGeom prst="rect">
            <a:avLst/>
          </a:prstGeom>
          <a:noFill/>
        </p:spPr>
        <p:txBody>
          <a:bodyPr wrap="square" lIns="0" tIns="0" rIns="0" bIns="0" rtlCol="0" anchor="ctr"/>
          <a:lstStyle/>
          <a:p>
            <a:pPr marL="0" indent="0" algn="l">
              <a:buNone/>
            </a:pPr>
            <a:r>
              <a:rPr lang="de-AT" sz="1600" i="1">
                <a:solidFill>
                  <a:srgbClr val="6B6B80"/>
                </a:solidFill>
                <a:latin typeface="Calibri"/>
                <a:ea typeface="Calibri"/>
                <a:cs typeface="Calibri"/>
              </a:rPr>
              <a:t>Spezialfälle der Assoziation: Ein Ganzes besteht aus Teilen</a:t>
            </a:r>
          </a:p>
        </p:txBody>
      </p:sp>
      <p:sp>
        <p:nvSpPr>
          <p:cNvPr id="104" name="!!agg-line"/>
          <p:cNvSpPr/>
          <p:nvPr/>
        </p:nvSpPr>
        <p:spPr>
          <a:xfrm>
            <a:off x="960120" y="2194560"/>
            <a:ext cx="1143000" cy="0"/>
          </a:xfrm>
          <a:prstGeom prst="line">
            <a:avLst/>
          </a:prstGeom>
          <a:noFill/>
          <a:ln w="38100">
            <a:solidFill>
              <a:srgbClr val="C8732D"/>
            </a:solidFill>
          </a:ln>
        </p:spPr>
        <p:txBody>
          <a:bodyPr/>
          <a:lstStyle/>
          <a:p>
            <a:endParaRPr lang="de-AT"/>
          </a:p>
        </p:txBody>
      </p:sp>
      <p:sp>
        <p:nvSpPr>
          <p:cNvPr id="105" name="!!agg-diamond"/>
          <p:cNvSpPr/>
          <p:nvPr/>
        </p:nvSpPr>
        <p:spPr>
          <a:xfrm>
            <a:off x="640080" y="2093976"/>
            <a:ext cx="320040" cy="201168"/>
          </a:xfrm>
          <a:prstGeom prst="diamond">
            <a:avLst/>
          </a:prstGeom>
          <a:solidFill>
            <a:srgbClr val="FFFFFF"/>
          </a:solidFill>
          <a:ln w="22225">
            <a:solidFill>
              <a:srgbClr val="C8732D"/>
            </a:solidFill>
          </a:ln>
        </p:spPr>
        <p:txBody>
          <a:bodyPr/>
          <a:lstStyle/>
          <a:p>
            <a:endParaRPr lang="de-AT"/>
          </a:p>
        </p:txBody>
      </p:sp>
      <p:sp>
        <p:nvSpPr>
          <p:cNvPr id="106" name="!!agg-label"/>
          <p:cNvSpPr txBox="1"/>
          <p:nvPr/>
        </p:nvSpPr>
        <p:spPr>
          <a:xfrm>
            <a:off x="2377440" y="1965960"/>
            <a:ext cx="2743200" cy="457200"/>
          </a:xfrm>
          <a:prstGeom prst="rect">
            <a:avLst/>
          </a:prstGeom>
          <a:noFill/>
        </p:spPr>
        <p:txBody>
          <a:bodyPr wrap="square" lIns="0" tIns="0" rIns="0" bIns="0" rtlCol="0" anchor="ctr"/>
          <a:lstStyle/>
          <a:p>
            <a:pPr marL="0" indent="0" algn="l">
              <a:buNone/>
            </a:pPr>
            <a:r>
              <a:rPr lang="de-AT" sz="2000" b="1">
                <a:solidFill>
                  <a:srgbClr val="C8732D"/>
                </a:solidFill>
                <a:latin typeface="Calibri"/>
                <a:ea typeface="Calibri"/>
                <a:cs typeface="Calibri"/>
              </a:rPr>
              <a:t>Aggregation</a:t>
            </a:r>
          </a:p>
        </p:txBody>
      </p:sp>
      <p:sp>
        <p:nvSpPr>
          <p:cNvPr id="107" name="Text 107"/>
          <p:cNvSpPr txBox="1"/>
          <p:nvPr/>
        </p:nvSpPr>
        <p:spPr>
          <a:xfrm>
            <a:off x="5212080" y="1874520"/>
            <a:ext cx="6400800" cy="640080"/>
          </a:xfrm>
          <a:prstGeom prst="rect">
            <a:avLst/>
          </a:prstGeom>
          <a:noFill/>
        </p:spPr>
        <p:txBody>
          <a:bodyPr wrap="square" lIns="0" tIns="0" rIns="0" bIns="0" rtlCol="0" anchor="ctr"/>
          <a:lstStyle/>
          <a:p>
            <a:pPr marL="0" indent="0" algn="l">
              <a:lnSpc>
                <a:spcPct val="120000"/>
              </a:lnSpc>
              <a:buNone/>
            </a:pPr>
            <a:r>
              <a:rPr lang="de-AT" sz="1600">
                <a:solidFill>
                  <a:srgbClr val="1E1E2E"/>
                </a:solidFill>
                <a:latin typeface="Calibri"/>
                <a:ea typeface="Calibri"/>
                <a:cs typeface="Calibri"/>
              </a:rPr>
              <a:t>„hat ein“ — das Teil kann ohne das Ganze existieren</a:t>
            </a:r>
          </a:p>
          <a:p>
            <a:pPr marL="0" indent="0" algn="l">
              <a:lnSpc>
                <a:spcPct val="120000"/>
              </a:lnSpc>
              <a:buNone/>
            </a:pPr>
            <a:r>
              <a:rPr lang="de-AT" sz="1300">
                <a:solidFill>
                  <a:srgbClr val="6B6B80"/>
                </a:solidFill>
                <a:latin typeface="Consolas"/>
                <a:ea typeface="Consolas"/>
                <a:cs typeface="Consolas"/>
              </a:rPr>
              <a:t>z.B. Schulklasse ◇— Schueler</a:t>
            </a:r>
          </a:p>
        </p:txBody>
      </p:sp>
      <p:sp>
        <p:nvSpPr>
          <p:cNvPr id="108" name="!!kom-line"/>
          <p:cNvSpPr/>
          <p:nvPr/>
        </p:nvSpPr>
        <p:spPr>
          <a:xfrm>
            <a:off x="960120" y="3474720"/>
            <a:ext cx="1143000" cy="0"/>
          </a:xfrm>
          <a:prstGeom prst="line">
            <a:avLst/>
          </a:prstGeom>
          <a:noFill/>
          <a:ln w="38100">
            <a:solidFill>
              <a:srgbClr val="1E1E2E"/>
            </a:solidFill>
          </a:ln>
        </p:spPr>
        <p:txBody>
          <a:bodyPr/>
          <a:lstStyle/>
          <a:p>
            <a:endParaRPr lang="de-AT"/>
          </a:p>
        </p:txBody>
      </p:sp>
      <p:sp>
        <p:nvSpPr>
          <p:cNvPr id="109" name="!!kom-diamond"/>
          <p:cNvSpPr/>
          <p:nvPr/>
        </p:nvSpPr>
        <p:spPr>
          <a:xfrm>
            <a:off x="640080" y="3374136"/>
            <a:ext cx="320040" cy="201168"/>
          </a:xfrm>
          <a:prstGeom prst="diamond">
            <a:avLst/>
          </a:prstGeom>
          <a:solidFill>
            <a:srgbClr val="1E1E2E"/>
          </a:solidFill>
          <a:ln w="22225">
            <a:solidFill>
              <a:srgbClr val="1E1E2E"/>
            </a:solidFill>
          </a:ln>
        </p:spPr>
        <p:txBody>
          <a:bodyPr/>
          <a:lstStyle/>
          <a:p>
            <a:endParaRPr lang="de-AT"/>
          </a:p>
        </p:txBody>
      </p:sp>
      <p:sp>
        <p:nvSpPr>
          <p:cNvPr id="110" name="!!kom-label"/>
          <p:cNvSpPr txBox="1"/>
          <p:nvPr/>
        </p:nvSpPr>
        <p:spPr>
          <a:xfrm>
            <a:off x="2377440" y="3246120"/>
            <a:ext cx="2743200" cy="457200"/>
          </a:xfrm>
          <a:prstGeom prst="rect">
            <a:avLst/>
          </a:prstGeom>
          <a:noFill/>
        </p:spPr>
        <p:txBody>
          <a:bodyPr wrap="square" lIns="0" tIns="0" rIns="0" bIns="0" rtlCol="0" anchor="ctr"/>
          <a:lstStyle/>
          <a:p>
            <a:pPr marL="0" indent="0" algn="l">
              <a:buNone/>
            </a:pPr>
            <a:r>
              <a:rPr lang="de-AT" sz="2000" b="1">
                <a:solidFill>
                  <a:srgbClr val="1E1E2E"/>
                </a:solidFill>
                <a:latin typeface="Calibri"/>
                <a:ea typeface="Calibri"/>
                <a:cs typeface="Calibri"/>
              </a:rPr>
              <a:t>Komposition</a:t>
            </a:r>
          </a:p>
        </p:txBody>
      </p:sp>
      <p:sp>
        <p:nvSpPr>
          <p:cNvPr id="111" name="Text 111"/>
          <p:cNvSpPr txBox="1"/>
          <p:nvPr/>
        </p:nvSpPr>
        <p:spPr>
          <a:xfrm>
            <a:off x="5212080" y="3154680"/>
            <a:ext cx="6400800" cy="640080"/>
          </a:xfrm>
          <a:prstGeom prst="rect">
            <a:avLst/>
          </a:prstGeom>
          <a:noFill/>
        </p:spPr>
        <p:txBody>
          <a:bodyPr wrap="square" lIns="0" tIns="0" rIns="0" bIns="0" rtlCol="0" anchor="ctr"/>
          <a:lstStyle/>
          <a:p>
            <a:pPr marL="0" indent="0" algn="l">
              <a:lnSpc>
                <a:spcPct val="120000"/>
              </a:lnSpc>
              <a:buNone/>
            </a:pPr>
            <a:r>
              <a:rPr lang="de-AT" sz="1600" dirty="0">
                <a:solidFill>
                  <a:srgbClr val="1E1E2E"/>
                </a:solidFill>
                <a:latin typeface="Calibri"/>
                <a:ea typeface="Calibri"/>
                <a:cs typeface="Calibri"/>
              </a:rPr>
              <a:t>„besteht aus“ — das Teil existiert nur mit dem Ganzen</a:t>
            </a:r>
          </a:p>
          <a:p>
            <a:pPr marL="0" indent="0" algn="l">
              <a:lnSpc>
                <a:spcPct val="120000"/>
              </a:lnSpc>
              <a:buNone/>
            </a:pPr>
            <a:r>
              <a:rPr lang="de-AT" sz="1300" dirty="0">
                <a:solidFill>
                  <a:srgbClr val="6B6B80"/>
                </a:solidFill>
                <a:latin typeface="Consolas"/>
                <a:ea typeface="Consolas"/>
                <a:cs typeface="Consolas"/>
              </a:rPr>
              <a:t>z.B. Gebäude ◆— Raum</a:t>
            </a:r>
          </a:p>
        </p:txBody>
      </p:sp>
      <p:sp>
        <p:nvSpPr>
          <p:cNvPr id="114" name="Text 114"/>
          <p:cNvSpPr txBox="1"/>
          <p:nvPr/>
        </p:nvSpPr>
        <p:spPr>
          <a:xfrm>
            <a:off x="457200" y="6537960"/>
            <a:ext cx="7315200" cy="274320"/>
          </a:xfrm>
          <a:prstGeom prst="rect">
            <a:avLst/>
          </a:prstGeom>
          <a:noFill/>
        </p:spPr>
        <p:txBody>
          <a:bodyPr wrap="square" lIns="0" tIns="0" rIns="0" bIns="0" rtlCol="0" anchor="ctr"/>
          <a:lstStyle/>
          <a:p>
            <a:pPr marL="0" indent="0" algn="l">
              <a:buNone/>
            </a:pPr>
            <a:r>
              <a:rPr lang="de-AT" sz="1000">
                <a:solidFill>
                  <a:srgbClr val="B0B0B0"/>
                </a:solidFill>
                <a:latin typeface="Calibri"/>
                <a:ea typeface="Calibri"/>
                <a:cs typeface="Calibri"/>
              </a:rPr>
              <a:t>Klassendiagramme · Kaltenbrunner &amp; Spring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01" name="!!bg"/>
          <p:cNvSpPr/>
          <p:nvPr/>
        </p:nvSpPr>
        <p:spPr>
          <a:xfrm>
            <a:off x="0" y="0"/>
            <a:ext cx="12188952" cy="6858000"/>
          </a:xfrm>
          <a:prstGeom prst="rect">
            <a:avLst/>
          </a:prstGeom>
          <a:solidFill>
            <a:srgbClr val="FFFFFF"/>
          </a:solidFill>
          <a:ln>
            <a:noFill/>
          </a:ln>
        </p:spPr>
        <p:txBody>
          <a:bodyPr/>
          <a:lstStyle/>
          <a:p>
            <a:endParaRPr lang="de-AT"/>
          </a:p>
        </p:txBody>
      </p:sp>
      <p:sp>
        <p:nvSpPr>
          <p:cNvPr id="102" name="!!title"/>
          <p:cNvSpPr txBox="1"/>
          <p:nvPr/>
        </p:nvSpPr>
        <p:spPr>
          <a:xfrm>
            <a:off x="548640" y="411480"/>
            <a:ext cx="10515600" cy="731520"/>
          </a:xfrm>
          <a:prstGeom prst="rect">
            <a:avLst/>
          </a:prstGeom>
          <a:noFill/>
        </p:spPr>
        <p:txBody>
          <a:bodyPr wrap="square" lIns="0" tIns="0" rIns="0" bIns="0" rtlCol="0" anchor="ctr"/>
          <a:lstStyle/>
          <a:p>
            <a:pPr marL="0" indent="0" algn="l">
              <a:buNone/>
            </a:pPr>
            <a:r>
              <a:rPr lang="de-AT" sz="3400" b="1">
                <a:solidFill>
                  <a:srgbClr val="1E1E2E"/>
                </a:solidFill>
                <a:latin typeface="Calibri"/>
                <a:ea typeface="Calibri"/>
                <a:cs typeface="Calibri"/>
              </a:rPr>
              <a:t>Beispiel: Aggregation vs. Komposition</a:t>
            </a:r>
          </a:p>
        </p:txBody>
      </p:sp>
      <p:sp>
        <p:nvSpPr>
          <p:cNvPr id="103" name="Text 103"/>
          <p:cNvSpPr txBox="1"/>
          <p:nvPr/>
        </p:nvSpPr>
        <p:spPr>
          <a:xfrm>
            <a:off x="548640" y="1097280"/>
            <a:ext cx="10972800" cy="320040"/>
          </a:xfrm>
          <a:prstGeom prst="rect">
            <a:avLst/>
          </a:prstGeom>
          <a:noFill/>
        </p:spPr>
        <p:txBody>
          <a:bodyPr wrap="square" lIns="0" tIns="0" rIns="0" bIns="0" rtlCol="0" anchor="ctr"/>
          <a:lstStyle/>
          <a:p>
            <a:pPr marL="0" indent="0" algn="l">
              <a:buNone/>
            </a:pPr>
            <a:r>
              <a:rPr lang="de-AT" sz="1300" i="1">
                <a:solidFill>
                  <a:srgbClr val="6B6B80"/>
                </a:solidFill>
                <a:latin typeface="Calibri"/>
                <a:ea typeface="Calibri"/>
                <a:cs typeface="Calibri"/>
              </a:rPr>
              <a:t>Zahlen an den Linien = Multiplizität:  1 = genau eins   ·   0..1 = keins oder eins   ·   * = beliebig viele</a:t>
            </a:r>
          </a:p>
        </p:txBody>
      </p:sp>
      <p:sp>
        <p:nvSpPr>
          <p:cNvPr id="104" name="!!agg-label"/>
          <p:cNvSpPr txBox="1"/>
          <p:nvPr/>
        </p:nvSpPr>
        <p:spPr>
          <a:xfrm>
            <a:off x="548640" y="1554480"/>
            <a:ext cx="5303520" cy="411480"/>
          </a:xfrm>
          <a:prstGeom prst="rect">
            <a:avLst/>
          </a:prstGeom>
          <a:noFill/>
        </p:spPr>
        <p:txBody>
          <a:bodyPr wrap="square" lIns="0" tIns="0" rIns="0" bIns="0" rtlCol="0" anchor="ctr"/>
          <a:lstStyle/>
          <a:p>
            <a:pPr marL="0" indent="0" algn="l">
              <a:buNone/>
            </a:pPr>
            <a:r>
              <a:rPr lang="de-AT" sz="2000" b="1">
                <a:solidFill>
                  <a:srgbClr val="C8732D"/>
                </a:solidFill>
                <a:latin typeface="Calibri"/>
                <a:ea typeface="Calibri"/>
                <a:cs typeface="Calibri"/>
              </a:rPr>
              <a:t>Aggregation</a:t>
            </a:r>
          </a:p>
        </p:txBody>
      </p:sp>
      <p:sp>
        <p:nvSpPr>
          <p:cNvPr id="105" name="Shape 105"/>
          <p:cNvSpPr/>
          <p:nvPr/>
        </p:nvSpPr>
        <p:spPr>
          <a:xfrm>
            <a:off x="548640" y="2103120"/>
            <a:ext cx="1737360" cy="502920"/>
          </a:xfrm>
          <a:prstGeom prst="rect">
            <a:avLst/>
          </a:prstGeom>
          <a:solidFill>
            <a:srgbClr val="1E1E2E"/>
          </a:solidFill>
          <a:ln w="19050">
            <a:solidFill>
              <a:srgbClr val="1E1E2E"/>
            </a:solidFill>
          </a:ln>
        </p:spPr>
        <p:txBody>
          <a:bodyPr/>
          <a:lstStyle/>
          <a:p>
            <a:endParaRPr lang="de-AT"/>
          </a:p>
        </p:txBody>
      </p:sp>
      <p:sp>
        <p:nvSpPr>
          <p:cNvPr id="106" name="Text 106"/>
          <p:cNvSpPr txBox="1"/>
          <p:nvPr/>
        </p:nvSpPr>
        <p:spPr>
          <a:xfrm>
            <a:off x="548640" y="2103120"/>
            <a:ext cx="1737360" cy="502920"/>
          </a:xfrm>
          <a:prstGeom prst="rect">
            <a:avLst/>
          </a:prstGeom>
          <a:noFill/>
        </p:spPr>
        <p:txBody>
          <a:bodyPr wrap="square" lIns="0" tIns="0" rIns="0" bIns="0" rtlCol="0" anchor="ctr"/>
          <a:lstStyle/>
          <a:p>
            <a:pPr marL="0" indent="0" algn="ctr">
              <a:buNone/>
            </a:pPr>
            <a:r>
              <a:rPr lang="de-AT" sz="1300" b="1">
                <a:solidFill>
                  <a:srgbClr val="FFFFFF"/>
                </a:solidFill>
                <a:latin typeface="Consolas"/>
                <a:ea typeface="Consolas"/>
                <a:cs typeface="Consolas"/>
              </a:rPr>
              <a:t>Schulklasse</a:t>
            </a:r>
          </a:p>
        </p:txBody>
      </p:sp>
      <p:sp>
        <p:nvSpPr>
          <p:cNvPr id="107" name="Shape 107"/>
          <p:cNvSpPr/>
          <p:nvPr/>
        </p:nvSpPr>
        <p:spPr>
          <a:xfrm>
            <a:off x="4114800" y="2103120"/>
            <a:ext cx="1737360" cy="502920"/>
          </a:xfrm>
          <a:prstGeom prst="rect">
            <a:avLst/>
          </a:prstGeom>
          <a:solidFill>
            <a:srgbClr val="1E1E2E"/>
          </a:solidFill>
          <a:ln w="19050">
            <a:solidFill>
              <a:srgbClr val="1E1E2E"/>
            </a:solidFill>
          </a:ln>
        </p:spPr>
        <p:txBody>
          <a:bodyPr/>
          <a:lstStyle/>
          <a:p>
            <a:endParaRPr lang="de-AT"/>
          </a:p>
        </p:txBody>
      </p:sp>
      <p:sp>
        <p:nvSpPr>
          <p:cNvPr id="108" name="Text 108"/>
          <p:cNvSpPr txBox="1"/>
          <p:nvPr/>
        </p:nvSpPr>
        <p:spPr>
          <a:xfrm>
            <a:off x="4114800" y="2103120"/>
            <a:ext cx="1737360" cy="502920"/>
          </a:xfrm>
          <a:prstGeom prst="rect">
            <a:avLst/>
          </a:prstGeom>
          <a:noFill/>
        </p:spPr>
        <p:txBody>
          <a:bodyPr wrap="square" lIns="0" tIns="0" rIns="0" bIns="0" rtlCol="0" anchor="ctr"/>
          <a:lstStyle/>
          <a:p>
            <a:pPr marL="0" indent="0" algn="ctr">
              <a:buNone/>
            </a:pPr>
            <a:r>
              <a:rPr lang="de-AT" sz="1300" b="1">
                <a:solidFill>
                  <a:srgbClr val="FFFFFF"/>
                </a:solidFill>
                <a:latin typeface="Consolas"/>
                <a:ea typeface="Consolas"/>
                <a:cs typeface="Consolas"/>
              </a:rPr>
              <a:t>Schueler</a:t>
            </a:r>
          </a:p>
        </p:txBody>
      </p:sp>
      <p:sp>
        <p:nvSpPr>
          <p:cNvPr id="109" name="!!agg-line"/>
          <p:cNvSpPr/>
          <p:nvPr/>
        </p:nvSpPr>
        <p:spPr>
          <a:xfrm>
            <a:off x="2606040" y="2354580"/>
            <a:ext cx="1508760" cy="0"/>
          </a:xfrm>
          <a:prstGeom prst="line">
            <a:avLst/>
          </a:prstGeom>
          <a:noFill/>
          <a:ln w="25400">
            <a:solidFill>
              <a:srgbClr val="C8732D"/>
            </a:solidFill>
          </a:ln>
        </p:spPr>
        <p:txBody>
          <a:bodyPr/>
          <a:lstStyle/>
          <a:p>
            <a:endParaRPr lang="de-AT"/>
          </a:p>
        </p:txBody>
      </p:sp>
      <p:sp>
        <p:nvSpPr>
          <p:cNvPr id="110" name="!!agg-diamond"/>
          <p:cNvSpPr/>
          <p:nvPr/>
        </p:nvSpPr>
        <p:spPr>
          <a:xfrm>
            <a:off x="2286000" y="2253996"/>
            <a:ext cx="320040" cy="201168"/>
          </a:xfrm>
          <a:prstGeom prst="diamond">
            <a:avLst/>
          </a:prstGeom>
          <a:solidFill>
            <a:srgbClr val="FFFFFF"/>
          </a:solidFill>
          <a:ln w="22225">
            <a:solidFill>
              <a:srgbClr val="C8732D"/>
            </a:solidFill>
          </a:ln>
        </p:spPr>
        <p:txBody>
          <a:bodyPr/>
          <a:lstStyle/>
          <a:p>
            <a:endParaRPr lang="de-AT"/>
          </a:p>
        </p:txBody>
      </p:sp>
      <p:sp>
        <p:nvSpPr>
          <p:cNvPr id="111" name="Text 111"/>
          <p:cNvSpPr txBox="1"/>
          <p:nvPr/>
        </p:nvSpPr>
        <p:spPr>
          <a:xfrm>
            <a:off x="2651760" y="2034540"/>
            <a:ext cx="914400" cy="274320"/>
          </a:xfrm>
          <a:prstGeom prst="rect">
            <a:avLst/>
          </a:prstGeom>
          <a:noFill/>
        </p:spPr>
        <p:txBody>
          <a:bodyPr wrap="square" lIns="0" tIns="0" rIns="0" bIns="0" rtlCol="0" anchor="ctr"/>
          <a:lstStyle/>
          <a:p>
            <a:pPr marL="0" indent="0" algn="l">
              <a:buNone/>
            </a:pPr>
            <a:r>
              <a:rPr lang="de-AT" sz="1200" b="1">
                <a:solidFill>
                  <a:srgbClr val="1E1E2E"/>
                </a:solidFill>
                <a:latin typeface="Consolas"/>
                <a:ea typeface="Consolas"/>
                <a:cs typeface="Consolas"/>
              </a:rPr>
              <a:t>0..1</a:t>
            </a:r>
          </a:p>
        </p:txBody>
      </p:sp>
      <p:sp>
        <p:nvSpPr>
          <p:cNvPr id="112" name="Text 112"/>
          <p:cNvSpPr txBox="1"/>
          <p:nvPr/>
        </p:nvSpPr>
        <p:spPr>
          <a:xfrm>
            <a:off x="3154680" y="2034540"/>
            <a:ext cx="914400" cy="274320"/>
          </a:xfrm>
          <a:prstGeom prst="rect">
            <a:avLst/>
          </a:prstGeom>
          <a:noFill/>
        </p:spPr>
        <p:txBody>
          <a:bodyPr wrap="square" lIns="0" tIns="0" rIns="0" bIns="0" rtlCol="0" anchor="ctr"/>
          <a:lstStyle/>
          <a:p>
            <a:pPr marL="0" indent="0" algn="r">
              <a:buNone/>
            </a:pPr>
            <a:r>
              <a:rPr lang="de-AT" sz="1200" b="1">
                <a:solidFill>
                  <a:srgbClr val="1E1E2E"/>
                </a:solidFill>
                <a:latin typeface="Consolas"/>
                <a:ea typeface="Consolas"/>
                <a:cs typeface="Consolas"/>
              </a:rPr>
              <a:t>*</a:t>
            </a:r>
          </a:p>
        </p:txBody>
      </p:sp>
      <p:sp>
        <p:nvSpPr>
          <p:cNvPr id="113" name="Text 113"/>
          <p:cNvSpPr txBox="1"/>
          <p:nvPr/>
        </p:nvSpPr>
        <p:spPr>
          <a:xfrm>
            <a:off x="548640" y="2697480"/>
            <a:ext cx="5303520" cy="365760"/>
          </a:xfrm>
          <a:prstGeom prst="rect">
            <a:avLst/>
          </a:prstGeom>
          <a:noFill/>
        </p:spPr>
        <p:txBody>
          <a:bodyPr wrap="square" lIns="0" tIns="0" rIns="0" bIns="0" rtlCol="0" anchor="ctr"/>
          <a:lstStyle/>
          <a:p>
            <a:pPr marL="0" indent="0" algn="ctr">
              <a:buNone/>
            </a:pPr>
            <a:r>
              <a:rPr lang="de-AT" sz="1300" i="1">
                <a:solidFill>
                  <a:srgbClr val="6B6B80"/>
                </a:solidFill>
                <a:latin typeface="Calibri"/>
                <a:ea typeface="Calibri"/>
                <a:cs typeface="Calibri"/>
              </a:rPr>
              <a:t>Schüler gibt es weiter, auch wenn die Klasse aufgelöst wird</a:t>
            </a:r>
          </a:p>
        </p:txBody>
      </p:sp>
      <p:sp>
        <p:nvSpPr>
          <p:cNvPr id="114" name="Shape 114"/>
          <p:cNvSpPr/>
          <p:nvPr/>
        </p:nvSpPr>
        <p:spPr>
          <a:xfrm>
            <a:off x="548640" y="3383280"/>
            <a:ext cx="5303520" cy="2286000"/>
          </a:xfrm>
          <a:prstGeom prst="roundRect">
            <a:avLst>
              <a:gd name="adj" fmla="val 5000"/>
            </a:avLst>
          </a:prstGeom>
          <a:solidFill>
            <a:srgbClr val="1E1E2E"/>
          </a:solidFill>
          <a:ln>
            <a:noFill/>
          </a:ln>
        </p:spPr>
        <p:txBody>
          <a:bodyPr/>
          <a:lstStyle/>
          <a:p>
            <a:endParaRPr lang="de-AT"/>
          </a:p>
        </p:txBody>
      </p:sp>
      <p:sp>
        <p:nvSpPr>
          <p:cNvPr id="115" name="Text 115"/>
          <p:cNvSpPr txBox="1"/>
          <p:nvPr/>
        </p:nvSpPr>
        <p:spPr>
          <a:xfrm>
            <a:off x="822960" y="3520440"/>
            <a:ext cx="4754880" cy="2011680"/>
          </a:xfrm>
          <a:prstGeom prst="rect">
            <a:avLst/>
          </a:prstGeom>
          <a:noFill/>
        </p:spPr>
        <p:txBody>
          <a:bodyPr wrap="square" lIns="0" tIns="0" rIns="0" bIns="0" rtlCol="0" anchor="ctr"/>
          <a:lstStyle/>
          <a:p>
            <a:pPr marL="0" indent="0" algn="l">
              <a:lnSpc>
                <a:spcPct val="100000"/>
              </a:lnSpc>
              <a:buNone/>
            </a:pPr>
            <a:r>
              <a:rPr lang="de-AT" sz="1200">
                <a:solidFill>
                  <a:srgbClr val="569CD6"/>
                </a:solidFill>
                <a:latin typeface="Consolas"/>
                <a:ea typeface="Consolas"/>
                <a:cs typeface="Consolas"/>
              </a:rPr>
              <a:t>public class </a:t>
            </a:r>
            <a:r>
              <a:rPr lang="de-AT" sz="1200">
                <a:solidFill>
                  <a:srgbClr val="4EC9B0"/>
                </a:solidFill>
                <a:latin typeface="Consolas"/>
                <a:ea typeface="Consolas"/>
                <a:cs typeface="Consolas"/>
              </a:rPr>
              <a:t>Schulklasse</a:t>
            </a:r>
          </a:p>
          <a:p>
            <a:pPr marL="0" indent="0" algn="l">
              <a:lnSpc>
                <a:spcPct val="100000"/>
              </a:lnSpc>
              <a:buNone/>
            </a:pPr>
            <a:r>
              <a:rPr lang="de-AT" sz="1200">
                <a:solidFill>
                  <a:srgbClr val="D4D4D4"/>
                </a:solidFill>
                <a:latin typeface="Consolas"/>
                <a:ea typeface="Consolas"/>
                <a:cs typeface="Consolas"/>
              </a:rPr>
              <a:t>{</a:t>
            </a:r>
          </a:p>
          <a:p>
            <a:pPr marL="0" indent="0" algn="l">
              <a:lnSpc>
                <a:spcPct val="100000"/>
              </a:lnSpc>
              <a:buNone/>
            </a:pPr>
            <a:r>
              <a:rPr lang="de-AT" sz="1200">
                <a:solidFill>
                  <a:srgbClr val="569CD6"/>
                </a:solidFill>
                <a:latin typeface="Consolas"/>
                <a:ea typeface="Consolas"/>
                <a:cs typeface="Consolas"/>
              </a:rPr>
              <a:t>    private </a:t>
            </a:r>
            <a:r>
              <a:rPr lang="de-AT" sz="1200">
                <a:solidFill>
                  <a:srgbClr val="4EC9B0"/>
                </a:solidFill>
                <a:latin typeface="Consolas"/>
                <a:ea typeface="Consolas"/>
                <a:cs typeface="Consolas"/>
              </a:rPr>
              <a:t>List</a:t>
            </a:r>
            <a:r>
              <a:rPr lang="de-AT" sz="1200">
                <a:solidFill>
                  <a:srgbClr val="D4D4D4"/>
                </a:solidFill>
                <a:latin typeface="Consolas"/>
                <a:ea typeface="Consolas"/>
                <a:cs typeface="Consolas"/>
              </a:rPr>
              <a:t>&lt;</a:t>
            </a:r>
            <a:r>
              <a:rPr lang="de-AT" sz="1200">
                <a:solidFill>
                  <a:srgbClr val="4EC9B0"/>
                </a:solidFill>
                <a:latin typeface="Consolas"/>
                <a:ea typeface="Consolas"/>
                <a:cs typeface="Consolas"/>
              </a:rPr>
              <a:t>Schueler</a:t>
            </a:r>
            <a:r>
              <a:rPr lang="de-AT" sz="1200">
                <a:solidFill>
                  <a:srgbClr val="D4D4D4"/>
                </a:solidFill>
                <a:latin typeface="Consolas"/>
                <a:ea typeface="Consolas"/>
                <a:cs typeface="Consolas"/>
              </a:rPr>
              <a:t>&gt; schueler;</a:t>
            </a:r>
          </a:p>
          <a:p>
            <a:pPr marL="0" indent="0" algn="l">
              <a:lnSpc>
                <a:spcPct val="100000"/>
              </a:lnSpc>
              <a:buNone/>
            </a:pPr>
            <a:endParaRPr lang="de-AT" sz="1200">
              <a:solidFill>
                <a:srgbClr val="D4D4D4"/>
              </a:solidFill>
              <a:latin typeface="Consolas"/>
              <a:ea typeface="Consolas"/>
              <a:cs typeface="Consolas"/>
            </a:endParaRPr>
          </a:p>
          <a:p>
            <a:pPr marL="0" indent="0" algn="l">
              <a:lnSpc>
                <a:spcPct val="100000"/>
              </a:lnSpc>
              <a:buNone/>
            </a:pPr>
            <a:r>
              <a:rPr lang="de-AT" sz="1200">
                <a:solidFill>
                  <a:srgbClr val="569CD6"/>
                </a:solidFill>
                <a:latin typeface="Consolas"/>
                <a:ea typeface="Consolas"/>
                <a:cs typeface="Consolas"/>
              </a:rPr>
              <a:t>    public </a:t>
            </a:r>
            <a:r>
              <a:rPr lang="de-AT" sz="1200">
                <a:solidFill>
                  <a:srgbClr val="4EC9B0"/>
                </a:solidFill>
                <a:latin typeface="Consolas"/>
                <a:ea typeface="Consolas"/>
                <a:cs typeface="Consolas"/>
              </a:rPr>
              <a:t>Schulklasse</a:t>
            </a:r>
            <a:r>
              <a:rPr lang="de-AT" sz="1200">
                <a:solidFill>
                  <a:srgbClr val="D4D4D4"/>
                </a:solidFill>
                <a:latin typeface="Consolas"/>
                <a:ea typeface="Consolas"/>
                <a:cs typeface="Consolas"/>
              </a:rPr>
              <a:t>(</a:t>
            </a:r>
            <a:r>
              <a:rPr lang="de-AT" sz="1200">
                <a:solidFill>
                  <a:srgbClr val="4EC9B0"/>
                </a:solidFill>
                <a:latin typeface="Consolas"/>
                <a:ea typeface="Consolas"/>
                <a:cs typeface="Consolas"/>
              </a:rPr>
              <a:t>List</a:t>
            </a:r>
            <a:r>
              <a:rPr lang="de-AT" sz="1200">
                <a:solidFill>
                  <a:srgbClr val="D4D4D4"/>
                </a:solidFill>
                <a:latin typeface="Consolas"/>
                <a:ea typeface="Consolas"/>
                <a:cs typeface="Consolas"/>
              </a:rPr>
              <a:t>&lt;</a:t>
            </a:r>
            <a:r>
              <a:rPr lang="de-AT" sz="1200">
                <a:solidFill>
                  <a:srgbClr val="4EC9B0"/>
                </a:solidFill>
                <a:latin typeface="Consolas"/>
                <a:ea typeface="Consolas"/>
                <a:cs typeface="Consolas"/>
              </a:rPr>
              <a:t>Schueler</a:t>
            </a:r>
            <a:r>
              <a:rPr lang="de-AT" sz="1200">
                <a:solidFill>
                  <a:srgbClr val="D4D4D4"/>
                </a:solidFill>
                <a:latin typeface="Consolas"/>
                <a:ea typeface="Consolas"/>
                <a:cs typeface="Consolas"/>
              </a:rPr>
              <a:t>&gt; s)</a:t>
            </a:r>
          </a:p>
          <a:p>
            <a:pPr marL="0" indent="0" algn="l">
              <a:lnSpc>
                <a:spcPct val="100000"/>
              </a:lnSpc>
              <a:buNone/>
            </a:pPr>
            <a:r>
              <a:rPr lang="de-AT" sz="1200">
                <a:solidFill>
                  <a:srgbClr val="D4D4D4"/>
                </a:solidFill>
                <a:latin typeface="Consolas"/>
                <a:ea typeface="Consolas"/>
                <a:cs typeface="Consolas"/>
              </a:rPr>
              <a:t>    {</a:t>
            </a:r>
          </a:p>
          <a:p>
            <a:pPr marL="0" indent="0" algn="l">
              <a:lnSpc>
                <a:spcPct val="100000"/>
              </a:lnSpc>
              <a:buNone/>
            </a:pPr>
            <a:r>
              <a:rPr lang="de-AT" sz="1200">
                <a:solidFill>
                  <a:srgbClr val="D4D4D4"/>
                </a:solidFill>
                <a:latin typeface="Consolas"/>
                <a:ea typeface="Consolas"/>
                <a:cs typeface="Consolas"/>
              </a:rPr>
              <a:t>        schueler = s;  </a:t>
            </a:r>
            <a:r>
              <a:rPr lang="de-AT" sz="1200">
                <a:solidFill>
                  <a:srgbClr val="6A9955"/>
                </a:solidFill>
                <a:latin typeface="Consolas"/>
                <a:ea typeface="Consolas"/>
                <a:cs typeface="Consolas"/>
              </a:rPr>
              <a:t>// von außen übergeben</a:t>
            </a:r>
          </a:p>
          <a:p>
            <a:pPr marL="0" indent="0" algn="l">
              <a:lnSpc>
                <a:spcPct val="100000"/>
              </a:lnSpc>
              <a:buNone/>
            </a:pPr>
            <a:r>
              <a:rPr lang="de-AT" sz="1200">
                <a:solidFill>
                  <a:srgbClr val="D4D4D4"/>
                </a:solidFill>
                <a:latin typeface="Consolas"/>
                <a:ea typeface="Consolas"/>
                <a:cs typeface="Consolas"/>
              </a:rPr>
              <a:t>    }</a:t>
            </a:r>
          </a:p>
          <a:p>
            <a:pPr marL="0" indent="0" algn="l">
              <a:lnSpc>
                <a:spcPct val="100000"/>
              </a:lnSpc>
              <a:buNone/>
            </a:pPr>
            <a:r>
              <a:rPr lang="de-AT" sz="1200">
                <a:solidFill>
                  <a:srgbClr val="D4D4D4"/>
                </a:solidFill>
                <a:latin typeface="Consolas"/>
                <a:ea typeface="Consolas"/>
                <a:cs typeface="Consolas"/>
              </a:rPr>
              <a:t>}</a:t>
            </a:r>
          </a:p>
        </p:txBody>
      </p:sp>
      <p:sp>
        <p:nvSpPr>
          <p:cNvPr id="116" name="!!kom-label"/>
          <p:cNvSpPr txBox="1"/>
          <p:nvPr/>
        </p:nvSpPr>
        <p:spPr>
          <a:xfrm>
            <a:off x="6339840" y="1554480"/>
            <a:ext cx="5303520" cy="411480"/>
          </a:xfrm>
          <a:prstGeom prst="rect">
            <a:avLst/>
          </a:prstGeom>
          <a:noFill/>
        </p:spPr>
        <p:txBody>
          <a:bodyPr wrap="square" lIns="0" tIns="0" rIns="0" bIns="0" rtlCol="0" anchor="ctr"/>
          <a:lstStyle/>
          <a:p>
            <a:pPr marL="0" indent="0" algn="l">
              <a:buNone/>
            </a:pPr>
            <a:r>
              <a:rPr lang="de-AT" sz="2000" b="1">
                <a:solidFill>
                  <a:srgbClr val="1E1E2E"/>
                </a:solidFill>
                <a:latin typeface="Calibri"/>
                <a:ea typeface="Calibri"/>
                <a:cs typeface="Calibri"/>
              </a:rPr>
              <a:t>Komposition</a:t>
            </a:r>
          </a:p>
        </p:txBody>
      </p:sp>
      <p:sp>
        <p:nvSpPr>
          <p:cNvPr id="117" name="Shape 117"/>
          <p:cNvSpPr/>
          <p:nvPr/>
        </p:nvSpPr>
        <p:spPr>
          <a:xfrm>
            <a:off x="6339840" y="2103120"/>
            <a:ext cx="1737360" cy="502920"/>
          </a:xfrm>
          <a:prstGeom prst="rect">
            <a:avLst/>
          </a:prstGeom>
          <a:solidFill>
            <a:srgbClr val="1E1E2E"/>
          </a:solidFill>
          <a:ln w="19050">
            <a:solidFill>
              <a:srgbClr val="1E1E2E"/>
            </a:solidFill>
          </a:ln>
        </p:spPr>
        <p:txBody>
          <a:bodyPr/>
          <a:lstStyle/>
          <a:p>
            <a:endParaRPr lang="de-AT"/>
          </a:p>
        </p:txBody>
      </p:sp>
      <p:sp>
        <p:nvSpPr>
          <p:cNvPr id="118" name="Text 118"/>
          <p:cNvSpPr txBox="1"/>
          <p:nvPr/>
        </p:nvSpPr>
        <p:spPr>
          <a:xfrm>
            <a:off x="6339840" y="2103120"/>
            <a:ext cx="1737360" cy="502920"/>
          </a:xfrm>
          <a:prstGeom prst="rect">
            <a:avLst/>
          </a:prstGeom>
          <a:noFill/>
        </p:spPr>
        <p:txBody>
          <a:bodyPr wrap="square" lIns="0" tIns="0" rIns="0" bIns="0" rtlCol="0" anchor="ctr"/>
          <a:lstStyle/>
          <a:p>
            <a:pPr marL="0" indent="0" algn="ctr">
              <a:buNone/>
            </a:pPr>
            <a:r>
              <a:rPr lang="de-AT" sz="1300" b="1" dirty="0">
                <a:solidFill>
                  <a:srgbClr val="FFFFFF"/>
                </a:solidFill>
                <a:latin typeface="Consolas"/>
                <a:ea typeface="Consolas"/>
                <a:cs typeface="Consolas"/>
              </a:rPr>
              <a:t>Gebäude</a:t>
            </a:r>
          </a:p>
        </p:txBody>
      </p:sp>
      <p:sp>
        <p:nvSpPr>
          <p:cNvPr id="119" name="Shape 119"/>
          <p:cNvSpPr/>
          <p:nvPr/>
        </p:nvSpPr>
        <p:spPr>
          <a:xfrm>
            <a:off x="9906000" y="2103120"/>
            <a:ext cx="1737360" cy="502920"/>
          </a:xfrm>
          <a:prstGeom prst="rect">
            <a:avLst/>
          </a:prstGeom>
          <a:solidFill>
            <a:srgbClr val="1E1E2E"/>
          </a:solidFill>
          <a:ln w="19050">
            <a:solidFill>
              <a:srgbClr val="1E1E2E"/>
            </a:solidFill>
          </a:ln>
        </p:spPr>
        <p:txBody>
          <a:bodyPr/>
          <a:lstStyle/>
          <a:p>
            <a:endParaRPr lang="de-AT"/>
          </a:p>
        </p:txBody>
      </p:sp>
      <p:sp>
        <p:nvSpPr>
          <p:cNvPr id="120" name="Text 120"/>
          <p:cNvSpPr txBox="1"/>
          <p:nvPr/>
        </p:nvSpPr>
        <p:spPr>
          <a:xfrm>
            <a:off x="9906000" y="2103120"/>
            <a:ext cx="1737360" cy="502920"/>
          </a:xfrm>
          <a:prstGeom prst="rect">
            <a:avLst/>
          </a:prstGeom>
          <a:noFill/>
        </p:spPr>
        <p:txBody>
          <a:bodyPr wrap="square" lIns="0" tIns="0" rIns="0" bIns="0" rtlCol="0" anchor="ctr"/>
          <a:lstStyle/>
          <a:p>
            <a:pPr marL="0" indent="0" algn="ctr">
              <a:buNone/>
            </a:pPr>
            <a:r>
              <a:rPr lang="de-AT" sz="1300" b="1" dirty="0">
                <a:solidFill>
                  <a:srgbClr val="FFFFFF"/>
                </a:solidFill>
                <a:latin typeface="Consolas"/>
                <a:ea typeface="Consolas"/>
                <a:cs typeface="Consolas"/>
              </a:rPr>
              <a:t>Raum</a:t>
            </a:r>
          </a:p>
        </p:txBody>
      </p:sp>
      <p:sp>
        <p:nvSpPr>
          <p:cNvPr id="121" name="!!kom-line"/>
          <p:cNvSpPr/>
          <p:nvPr/>
        </p:nvSpPr>
        <p:spPr>
          <a:xfrm>
            <a:off x="8397240" y="2354580"/>
            <a:ext cx="1508760" cy="0"/>
          </a:xfrm>
          <a:prstGeom prst="line">
            <a:avLst/>
          </a:prstGeom>
          <a:noFill/>
          <a:ln w="25400">
            <a:solidFill>
              <a:srgbClr val="1E1E2E"/>
            </a:solidFill>
          </a:ln>
        </p:spPr>
        <p:txBody>
          <a:bodyPr/>
          <a:lstStyle/>
          <a:p>
            <a:endParaRPr lang="de-AT"/>
          </a:p>
        </p:txBody>
      </p:sp>
      <p:sp>
        <p:nvSpPr>
          <p:cNvPr id="122" name="!!kom-diamond"/>
          <p:cNvSpPr/>
          <p:nvPr/>
        </p:nvSpPr>
        <p:spPr>
          <a:xfrm>
            <a:off x="8077200" y="2253996"/>
            <a:ext cx="320040" cy="201168"/>
          </a:xfrm>
          <a:prstGeom prst="diamond">
            <a:avLst/>
          </a:prstGeom>
          <a:solidFill>
            <a:srgbClr val="1E1E2E"/>
          </a:solidFill>
          <a:ln w="22225">
            <a:solidFill>
              <a:srgbClr val="1E1E2E"/>
            </a:solidFill>
          </a:ln>
        </p:spPr>
        <p:txBody>
          <a:bodyPr/>
          <a:lstStyle/>
          <a:p>
            <a:endParaRPr lang="de-AT"/>
          </a:p>
        </p:txBody>
      </p:sp>
      <p:sp>
        <p:nvSpPr>
          <p:cNvPr id="123" name="Text 123"/>
          <p:cNvSpPr txBox="1"/>
          <p:nvPr/>
        </p:nvSpPr>
        <p:spPr>
          <a:xfrm>
            <a:off x="8442960" y="2034540"/>
            <a:ext cx="914400" cy="274320"/>
          </a:xfrm>
          <a:prstGeom prst="rect">
            <a:avLst/>
          </a:prstGeom>
          <a:noFill/>
        </p:spPr>
        <p:txBody>
          <a:bodyPr wrap="square" lIns="0" tIns="0" rIns="0" bIns="0" rtlCol="0" anchor="ctr"/>
          <a:lstStyle/>
          <a:p>
            <a:pPr marL="0" indent="0" algn="l">
              <a:buNone/>
            </a:pPr>
            <a:r>
              <a:rPr lang="de-AT" sz="1200" b="1">
                <a:solidFill>
                  <a:srgbClr val="1E1E2E"/>
                </a:solidFill>
                <a:latin typeface="Consolas"/>
                <a:ea typeface="Consolas"/>
                <a:cs typeface="Consolas"/>
              </a:rPr>
              <a:t>1</a:t>
            </a:r>
          </a:p>
        </p:txBody>
      </p:sp>
      <p:sp>
        <p:nvSpPr>
          <p:cNvPr id="124" name="Text 124"/>
          <p:cNvSpPr txBox="1"/>
          <p:nvPr/>
        </p:nvSpPr>
        <p:spPr>
          <a:xfrm>
            <a:off x="8945880" y="2034540"/>
            <a:ext cx="914400" cy="274320"/>
          </a:xfrm>
          <a:prstGeom prst="rect">
            <a:avLst/>
          </a:prstGeom>
          <a:noFill/>
        </p:spPr>
        <p:txBody>
          <a:bodyPr wrap="square" lIns="0" tIns="0" rIns="0" bIns="0" rtlCol="0" anchor="ctr"/>
          <a:lstStyle/>
          <a:p>
            <a:pPr marL="0" indent="0" algn="r">
              <a:buNone/>
            </a:pPr>
            <a:r>
              <a:rPr lang="de-AT" sz="1200" b="1">
                <a:solidFill>
                  <a:srgbClr val="1E1E2E"/>
                </a:solidFill>
                <a:latin typeface="Consolas"/>
                <a:ea typeface="Consolas"/>
                <a:cs typeface="Consolas"/>
              </a:rPr>
              <a:t>1</a:t>
            </a:r>
          </a:p>
        </p:txBody>
      </p:sp>
      <p:sp>
        <p:nvSpPr>
          <p:cNvPr id="125" name="Text 125"/>
          <p:cNvSpPr txBox="1"/>
          <p:nvPr/>
        </p:nvSpPr>
        <p:spPr>
          <a:xfrm>
            <a:off x="6339840" y="2697480"/>
            <a:ext cx="5303520" cy="365760"/>
          </a:xfrm>
          <a:prstGeom prst="rect">
            <a:avLst/>
          </a:prstGeom>
          <a:noFill/>
        </p:spPr>
        <p:txBody>
          <a:bodyPr wrap="square" lIns="0" tIns="0" rIns="0" bIns="0" rtlCol="0" anchor="ctr"/>
          <a:lstStyle/>
          <a:p>
            <a:pPr marL="0" indent="0" algn="ctr">
              <a:buNone/>
            </a:pPr>
            <a:r>
              <a:rPr lang="de-AT" sz="1300" i="1">
                <a:solidFill>
                  <a:srgbClr val="6B6B80"/>
                </a:solidFill>
                <a:latin typeface="Calibri"/>
                <a:ea typeface="Calibri"/>
                <a:cs typeface="Calibri"/>
              </a:rPr>
              <a:t>Der Motor wird mit dem Auto erzeugt und gelöscht</a:t>
            </a:r>
          </a:p>
        </p:txBody>
      </p:sp>
      <p:sp>
        <p:nvSpPr>
          <p:cNvPr id="126" name="Shape 126"/>
          <p:cNvSpPr/>
          <p:nvPr/>
        </p:nvSpPr>
        <p:spPr>
          <a:xfrm>
            <a:off x="6339840" y="3383280"/>
            <a:ext cx="5303520" cy="2286000"/>
          </a:xfrm>
          <a:prstGeom prst="roundRect">
            <a:avLst>
              <a:gd name="adj" fmla="val 5000"/>
            </a:avLst>
          </a:prstGeom>
          <a:solidFill>
            <a:srgbClr val="1E1E2E"/>
          </a:solidFill>
          <a:ln>
            <a:noFill/>
          </a:ln>
        </p:spPr>
        <p:txBody>
          <a:bodyPr/>
          <a:lstStyle/>
          <a:p>
            <a:endParaRPr lang="de-AT"/>
          </a:p>
        </p:txBody>
      </p:sp>
      <p:sp>
        <p:nvSpPr>
          <p:cNvPr id="127" name="Text 127"/>
          <p:cNvSpPr txBox="1"/>
          <p:nvPr/>
        </p:nvSpPr>
        <p:spPr>
          <a:xfrm>
            <a:off x="6614160" y="3520440"/>
            <a:ext cx="4754880" cy="2011680"/>
          </a:xfrm>
          <a:prstGeom prst="rect">
            <a:avLst/>
          </a:prstGeom>
          <a:noFill/>
        </p:spPr>
        <p:txBody>
          <a:bodyPr wrap="square" lIns="0" tIns="0" rIns="0" bIns="0" rtlCol="0" anchor="ctr"/>
          <a:lstStyle/>
          <a:p>
            <a:pPr marL="0" indent="0" algn="l">
              <a:lnSpc>
                <a:spcPct val="100000"/>
              </a:lnSpc>
              <a:buNone/>
            </a:pPr>
            <a:r>
              <a:rPr lang="de-AT" sz="1200" dirty="0" err="1">
                <a:solidFill>
                  <a:srgbClr val="569CD6"/>
                </a:solidFill>
                <a:latin typeface="Consolas"/>
                <a:ea typeface="Consolas"/>
                <a:cs typeface="Consolas"/>
              </a:rPr>
              <a:t>public</a:t>
            </a:r>
            <a:r>
              <a:rPr lang="de-AT" sz="1200" dirty="0">
                <a:solidFill>
                  <a:srgbClr val="569CD6"/>
                </a:solidFill>
                <a:latin typeface="Consolas"/>
                <a:ea typeface="Consolas"/>
                <a:cs typeface="Consolas"/>
              </a:rPr>
              <a:t> </a:t>
            </a:r>
            <a:r>
              <a:rPr lang="de-AT" sz="1200" dirty="0" err="1">
                <a:solidFill>
                  <a:srgbClr val="569CD6"/>
                </a:solidFill>
                <a:latin typeface="Consolas"/>
                <a:ea typeface="Consolas"/>
                <a:cs typeface="Consolas"/>
              </a:rPr>
              <a:t>class</a:t>
            </a:r>
            <a:r>
              <a:rPr lang="de-AT" sz="1200" dirty="0">
                <a:solidFill>
                  <a:srgbClr val="569CD6"/>
                </a:solidFill>
                <a:latin typeface="Consolas"/>
                <a:ea typeface="Consolas"/>
                <a:cs typeface="Consolas"/>
              </a:rPr>
              <a:t> </a:t>
            </a:r>
            <a:r>
              <a:rPr lang="de-AT" sz="1200" dirty="0">
                <a:solidFill>
                  <a:srgbClr val="4EC9B0"/>
                </a:solidFill>
                <a:latin typeface="Consolas"/>
                <a:ea typeface="Consolas"/>
                <a:cs typeface="Consolas"/>
              </a:rPr>
              <a:t>Gebäude</a:t>
            </a:r>
          </a:p>
          <a:p>
            <a:pPr marL="0" indent="0" algn="l">
              <a:lnSpc>
                <a:spcPct val="100000"/>
              </a:lnSpc>
              <a:buNone/>
            </a:pPr>
            <a:r>
              <a:rPr lang="de-AT" sz="1200" dirty="0">
                <a:solidFill>
                  <a:srgbClr val="D4D4D4"/>
                </a:solidFill>
                <a:latin typeface="Consolas"/>
                <a:ea typeface="Consolas"/>
                <a:cs typeface="Consolas"/>
              </a:rPr>
              <a:t>{</a:t>
            </a:r>
          </a:p>
          <a:p>
            <a:pPr marL="0" indent="0" algn="l">
              <a:lnSpc>
                <a:spcPct val="100000"/>
              </a:lnSpc>
              <a:buNone/>
            </a:pPr>
            <a:r>
              <a:rPr lang="de-AT" sz="1200" dirty="0">
                <a:solidFill>
                  <a:srgbClr val="569CD6"/>
                </a:solidFill>
                <a:latin typeface="Consolas"/>
                <a:ea typeface="Consolas"/>
                <a:cs typeface="Consolas"/>
              </a:rPr>
              <a:t>    private </a:t>
            </a:r>
            <a:r>
              <a:rPr lang="de-AT" sz="1200" dirty="0">
                <a:solidFill>
                  <a:srgbClr val="4EC9B0"/>
                </a:solidFill>
                <a:latin typeface="Consolas"/>
                <a:ea typeface="Consolas"/>
                <a:cs typeface="Consolas"/>
              </a:rPr>
              <a:t>Raum</a:t>
            </a:r>
            <a:r>
              <a:rPr lang="de-AT" sz="1200" dirty="0">
                <a:solidFill>
                  <a:srgbClr val="D4D4D4"/>
                </a:solidFill>
                <a:latin typeface="Consolas"/>
                <a:ea typeface="Consolas"/>
                <a:cs typeface="Consolas"/>
              </a:rPr>
              <a:t> </a:t>
            </a:r>
            <a:r>
              <a:rPr lang="de-AT" sz="1200" dirty="0" err="1">
                <a:solidFill>
                  <a:srgbClr val="D4D4D4"/>
                </a:solidFill>
                <a:latin typeface="Consolas"/>
                <a:ea typeface="Consolas"/>
                <a:cs typeface="Consolas"/>
              </a:rPr>
              <a:t>raum</a:t>
            </a:r>
            <a:r>
              <a:rPr lang="de-AT" sz="1200" dirty="0">
                <a:solidFill>
                  <a:srgbClr val="D4D4D4"/>
                </a:solidFill>
                <a:latin typeface="Consolas"/>
                <a:ea typeface="Consolas"/>
                <a:cs typeface="Consolas"/>
              </a:rPr>
              <a:t>;</a:t>
            </a:r>
          </a:p>
          <a:p>
            <a:pPr marL="0" indent="0" algn="l">
              <a:lnSpc>
                <a:spcPct val="100000"/>
              </a:lnSpc>
              <a:buNone/>
            </a:pPr>
            <a:endParaRPr lang="de-AT" sz="1200" dirty="0">
              <a:solidFill>
                <a:srgbClr val="D4D4D4"/>
              </a:solidFill>
              <a:latin typeface="Consolas"/>
              <a:ea typeface="Consolas"/>
              <a:cs typeface="Consolas"/>
            </a:endParaRPr>
          </a:p>
          <a:p>
            <a:pPr marL="0" indent="0" algn="l">
              <a:lnSpc>
                <a:spcPct val="100000"/>
              </a:lnSpc>
              <a:buNone/>
            </a:pPr>
            <a:r>
              <a:rPr lang="de-AT" sz="1200" dirty="0">
                <a:solidFill>
                  <a:srgbClr val="569CD6"/>
                </a:solidFill>
                <a:latin typeface="Consolas"/>
                <a:ea typeface="Consolas"/>
                <a:cs typeface="Consolas"/>
              </a:rPr>
              <a:t>    </a:t>
            </a:r>
            <a:r>
              <a:rPr lang="de-AT" sz="1200" dirty="0" err="1">
                <a:solidFill>
                  <a:srgbClr val="569CD6"/>
                </a:solidFill>
                <a:latin typeface="Consolas"/>
                <a:ea typeface="Consolas"/>
                <a:cs typeface="Consolas"/>
              </a:rPr>
              <a:t>public</a:t>
            </a:r>
            <a:r>
              <a:rPr lang="de-AT" sz="1200" dirty="0">
                <a:solidFill>
                  <a:srgbClr val="569CD6"/>
                </a:solidFill>
                <a:latin typeface="Consolas"/>
                <a:ea typeface="Consolas"/>
                <a:cs typeface="Consolas"/>
              </a:rPr>
              <a:t> </a:t>
            </a:r>
            <a:r>
              <a:rPr lang="de-AT" sz="1200" dirty="0">
                <a:solidFill>
                  <a:srgbClr val="4EC9B0"/>
                </a:solidFill>
                <a:latin typeface="Consolas"/>
                <a:ea typeface="Consolas"/>
                <a:cs typeface="Consolas"/>
              </a:rPr>
              <a:t>Gebäude</a:t>
            </a:r>
            <a:r>
              <a:rPr lang="de-AT" sz="1200" dirty="0">
                <a:solidFill>
                  <a:srgbClr val="D4D4D4"/>
                </a:solidFill>
                <a:latin typeface="Consolas"/>
                <a:ea typeface="Consolas"/>
                <a:cs typeface="Consolas"/>
              </a:rPr>
              <a:t>()</a:t>
            </a:r>
          </a:p>
          <a:p>
            <a:pPr marL="0" indent="0" algn="l">
              <a:lnSpc>
                <a:spcPct val="100000"/>
              </a:lnSpc>
              <a:buNone/>
            </a:pPr>
            <a:r>
              <a:rPr lang="de-AT" sz="1200" dirty="0">
                <a:solidFill>
                  <a:srgbClr val="D4D4D4"/>
                </a:solidFill>
                <a:latin typeface="Consolas"/>
                <a:ea typeface="Consolas"/>
                <a:cs typeface="Consolas"/>
              </a:rPr>
              <a:t>    {</a:t>
            </a:r>
          </a:p>
          <a:p>
            <a:pPr marL="0" indent="0" algn="l">
              <a:lnSpc>
                <a:spcPct val="100000"/>
              </a:lnSpc>
              <a:buNone/>
            </a:pPr>
            <a:r>
              <a:rPr lang="de-AT" sz="1200" dirty="0">
                <a:solidFill>
                  <a:srgbClr val="D4D4D4"/>
                </a:solidFill>
                <a:latin typeface="Consolas"/>
                <a:ea typeface="Consolas"/>
                <a:cs typeface="Consolas"/>
              </a:rPr>
              <a:t>        raum = </a:t>
            </a:r>
            <a:r>
              <a:rPr lang="de-AT" sz="1200" dirty="0" err="1">
                <a:solidFill>
                  <a:srgbClr val="569CD6"/>
                </a:solidFill>
                <a:latin typeface="Consolas"/>
                <a:ea typeface="Consolas"/>
                <a:cs typeface="Consolas"/>
              </a:rPr>
              <a:t>new</a:t>
            </a:r>
            <a:r>
              <a:rPr lang="de-AT" sz="1200" dirty="0">
                <a:solidFill>
                  <a:srgbClr val="569CD6"/>
                </a:solidFill>
                <a:latin typeface="Consolas"/>
                <a:ea typeface="Consolas"/>
                <a:cs typeface="Consolas"/>
              </a:rPr>
              <a:t> </a:t>
            </a:r>
            <a:r>
              <a:rPr lang="de-AT" sz="1200" dirty="0">
                <a:solidFill>
                  <a:srgbClr val="4EC9B0"/>
                </a:solidFill>
                <a:latin typeface="Consolas"/>
                <a:ea typeface="Consolas"/>
                <a:cs typeface="Consolas"/>
              </a:rPr>
              <a:t>Raum</a:t>
            </a:r>
            <a:r>
              <a:rPr lang="de-AT" sz="1200" dirty="0">
                <a:solidFill>
                  <a:srgbClr val="D4D4D4"/>
                </a:solidFill>
                <a:latin typeface="Consolas"/>
                <a:ea typeface="Consolas"/>
                <a:cs typeface="Consolas"/>
              </a:rPr>
              <a:t>();  </a:t>
            </a:r>
            <a:r>
              <a:rPr lang="de-AT" sz="1200" dirty="0">
                <a:solidFill>
                  <a:srgbClr val="6A9955"/>
                </a:solidFill>
                <a:latin typeface="Consolas"/>
                <a:ea typeface="Consolas"/>
                <a:cs typeface="Consolas"/>
              </a:rPr>
              <a:t>// intern erzeugt</a:t>
            </a:r>
          </a:p>
          <a:p>
            <a:pPr marL="0" indent="0" algn="l">
              <a:lnSpc>
                <a:spcPct val="100000"/>
              </a:lnSpc>
              <a:buNone/>
            </a:pPr>
            <a:r>
              <a:rPr lang="de-AT" sz="1200" dirty="0">
                <a:solidFill>
                  <a:srgbClr val="D4D4D4"/>
                </a:solidFill>
                <a:latin typeface="Consolas"/>
                <a:ea typeface="Consolas"/>
                <a:cs typeface="Consolas"/>
              </a:rPr>
              <a:t>    }</a:t>
            </a:r>
          </a:p>
          <a:p>
            <a:pPr marL="0" indent="0" algn="l">
              <a:lnSpc>
                <a:spcPct val="100000"/>
              </a:lnSpc>
              <a:buNone/>
            </a:pPr>
            <a:r>
              <a:rPr lang="de-AT" sz="1200" dirty="0">
                <a:solidFill>
                  <a:srgbClr val="D4D4D4"/>
                </a:solidFill>
                <a:latin typeface="Consolas"/>
                <a:ea typeface="Consolas"/>
                <a:cs typeface="Consolas"/>
              </a:rPr>
              <a:t>}</a:t>
            </a:r>
          </a:p>
        </p:txBody>
      </p:sp>
      <p:sp>
        <p:nvSpPr>
          <p:cNvPr id="128" name="Text 128"/>
          <p:cNvSpPr txBox="1"/>
          <p:nvPr/>
        </p:nvSpPr>
        <p:spPr>
          <a:xfrm>
            <a:off x="457200" y="6537960"/>
            <a:ext cx="7315200" cy="274320"/>
          </a:xfrm>
          <a:prstGeom prst="rect">
            <a:avLst/>
          </a:prstGeom>
          <a:noFill/>
        </p:spPr>
        <p:txBody>
          <a:bodyPr wrap="square" lIns="0" tIns="0" rIns="0" bIns="0" rtlCol="0" anchor="ctr"/>
          <a:lstStyle/>
          <a:p>
            <a:pPr marL="0" indent="0" algn="l">
              <a:buNone/>
            </a:pPr>
            <a:r>
              <a:rPr lang="de-AT" sz="1000">
                <a:solidFill>
                  <a:srgbClr val="B0B0B0"/>
                </a:solidFill>
                <a:latin typeface="Calibri"/>
                <a:ea typeface="Calibri"/>
                <a:cs typeface="Calibri"/>
              </a:rPr>
              <a:t>Klassendiagramme · Kaltenbrunner &amp; Spring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120" name="!!bg"/>
          <p:cNvSpPr/>
          <p:nvPr/>
        </p:nvSpPr>
        <p:spPr>
          <a:xfrm>
            <a:off x="0" y="0"/>
            <a:ext cx="12188952" cy="6858000"/>
          </a:xfrm>
          <a:prstGeom prst="rect">
            <a:avLst/>
          </a:prstGeom>
          <a:solidFill>
            <a:srgbClr val="FFFFFF"/>
          </a:solidFill>
          <a:ln>
            <a:noFill/>
          </a:ln>
        </p:spPr>
        <p:txBody>
          <a:bodyPr/>
          <a:lstStyle/>
          <a:p>
            <a:endParaRPr lang="de-AT"/>
          </a:p>
        </p:txBody>
      </p:sp>
      <p:sp>
        <p:nvSpPr>
          <p:cNvPr id="121" name="!!title"/>
          <p:cNvSpPr txBox="1"/>
          <p:nvPr/>
        </p:nvSpPr>
        <p:spPr>
          <a:xfrm>
            <a:off x="548640" y="411480"/>
            <a:ext cx="10515600" cy="731520"/>
          </a:xfrm>
          <a:prstGeom prst="rect">
            <a:avLst/>
          </a:prstGeom>
          <a:noFill/>
        </p:spPr>
        <p:txBody>
          <a:bodyPr wrap="square" lIns="0" tIns="0" rIns="0" bIns="0" rtlCol="0" anchor="ctr"/>
          <a:lstStyle/>
          <a:p>
            <a:pPr marL="0" indent="0" algn="l">
              <a:buNone/>
            </a:pPr>
            <a:r>
              <a:rPr lang="de-AT" sz="3400" b="1">
                <a:solidFill>
                  <a:srgbClr val="1E1E2E"/>
                </a:solidFill>
                <a:latin typeface="Calibri"/>
                <a:ea typeface="Calibri"/>
                <a:cs typeface="Calibri"/>
              </a:rPr>
              <a:t>Beispiel: Figur-Projekt</a:t>
            </a:r>
          </a:p>
        </p:txBody>
      </p:sp>
      <p:sp>
        <p:nvSpPr>
          <p:cNvPr id="122" name="!!ifigur-kopf"/>
          <p:cNvSpPr/>
          <p:nvPr/>
        </p:nvSpPr>
        <p:spPr>
          <a:xfrm>
            <a:off x="4480560" y="1234440"/>
            <a:ext cx="3200400" cy="548640"/>
          </a:xfrm>
          <a:prstGeom prst="rect">
            <a:avLst/>
          </a:prstGeom>
          <a:solidFill>
            <a:srgbClr val="C586C0"/>
          </a:solidFill>
          <a:ln w="19050">
            <a:solidFill>
              <a:srgbClr val="C586C0"/>
            </a:solidFill>
          </a:ln>
        </p:spPr>
        <p:txBody>
          <a:bodyPr/>
          <a:lstStyle/>
          <a:p>
            <a:endParaRPr lang="de-AT"/>
          </a:p>
        </p:txBody>
      </p:sp>
      <p:sp>
        <p:nvSpPr>
          <p:cNvPr id="123" name="!!ifigur-name"/>
          <p:cNvSpPr txBox="1"/>
          <p:nvPr/>
        </p:nvSpPr>
        <p:spPr>
          <a:xfrm>
            <a:off x="4480560" y="1234440"/>
            <a:ext cx="3200400" cy="548640"/>
          </a:xfrm>
          <a:prstGeom prst="rect">
            <a:avLst/>
          </a:prstGeom>
          <a:noFill/>
        </p:spPr>
        <p:txBody>
          <a:bodyPr wrap="square" lIns="0" tIns="0" rIns="0" bIns="0" rtlCol="0" anchor="ctr"/>
          <a:lstStyle/>
          <a:p>
            <a:pPr marL="0" indent="0" algn="ctr">
              <a:buNone/>
            </a:pPr>
            <a:r>
              <a:rPr lang="de-AT" sz="1000" i="1">
                <a:solidFill>
                  <a:srgbClr val="FFFFFF"/>
                </a:solidFill>
                <a:latin typeface="Calibri"/>
                <a:ea typeface="Calibri"/>
                <a:cs typeface="Calibri"/>
              </a:rPr>
              <a:t>«interface»</a:t>
            </a:r>
          </a:p>
          <a:p>
            <a:pPr marL="0" indent="0" algn="ctr">
              <a:buNone/>
            </a:pPr>
            <a:r>
              <a:rPr lang="de-AT" sz="1500" b="1">
                <a:solidFill>
                  <a:srgbClr val="FFFFFF"/>
                </a:solidFill>
                <a:latin typeface="Calibri"/>
                <a:ea typeface="Calibri"/>
                <a:cs typeface="Calibri"/>
              </a:rPr>
              <a:t>IFigur</a:t>
            </a:r>
          </a:p>
        </p:txBody>
      </p:sp>
      <p:sp>
        <p:nvSpPr>
          <p:cNvPr id="124" name="Shape 124"/>
          <p:cNvSpPr/>
          <p:nvPr/>
        </p:nvSpPr>
        <p:spPr>
          <a:xfrm>
            <a:off x="4480560" y="1783080"/>
            <a:ext cx="3200400" cy="594360"/>
          </a:xfrm>
          <a:prstGeom prst="rect">
            <a:avLst/>
          </a:prstGeom>
          <a:solidFill>
            <a:srgbClr val="F4F4F8"/>
          </a:solidFill>
          <a:ln w="19050">
            <a:solidFill>
              <a:srgbClr val="C586C0"/>
            </a:solidFill>
          </a:ln>
        </p:spPr>
        <p:txBody>
          <a:bodyPr/>
          <a:lstStyle/>
          <a:p>
            <a:endParaRPr lang="de-AT"/>
          </a:p>
        </p:txBody>
      </p:sp>
      <p:sp>
        <p:nvSpPr>
          <p:cNvPr id="125" name="Text 125"/>
          <p:cNvSpPr txBox="1"/>
          <p:nvPr/>
        </p:nvSpPr>
        <p:spPr>
          <a:xfrm>
            <a:off x="4590288" y="1783080"/>
            <a:ext cx="2980944" cy="594360"/>
          </a:xfrm>
          <a:prstGeom prst="rect">
            <a:avLst/>
          </a:prstGeom>
          <a:noFill/>
        </p:spPr>
        <p:txBody>
          <a:bodyPr wrap="square" lIns="0" tIns="0" rIns="0" bIns="0" rtlCol="0" anchor="ctr"/>
          <a:lstStyle/>
          <a:p>
            <a:pPr marL="0" indent="0" algn="l">
              <a:lnSpc>
                <a:spcPct val="115000"/>
              </a:lnSpc>
              <a:buNone/>
            </a:pPr>
            <a:r>
              <a:rPr lang="de-AT" sz="1100">
                <a:solidFill>
                  <a:srgbClr val="1E1E2E"/>
                </a:solidFill>
                <a:latin typeface="Consolas"/>
                <a:ea typeface="Consolas"/>
                <a:cs typeface="Consolas"/>
              </a:rPr>
              <a:t>+ Volumen() : double</a:t>
            </a:r>
          </a:p>
          <a:p>
            <a:pPr marL="0" indent="0" algn="l">
              <a:lnSpc>
                <a:spcPct val="115000"/>
              </a:lnSpc>
              <a:buNone/>
            </a:pPr>
            <a:r>
              <a:rPr lang="de-AT" sz="1100">
                <a:solidFill>
                  <a:srgbClr val="1E1E2E"/>
                </a:solidFill>
                <a:latin typeface="Consolas"/>
                <a:ea typeface="Consolas"/>
                <a:cs typeface="Consolas"/>
              </a:rPr>
              <a:t>+ Oberflaeche() : double</a:t>
            </a:r>
          </a:p>
        </p:txBody>
      </p:sp>
      <p:sp>
        <p:nvSpPr>
          <p:cNvPr id="126" name="!!figur-kopf"/>
          <p:cNvSpPr/>
          <p:nvPr/>
        </p:nvSpPr>
        <p:spPr>
          <a:xfrm>
            <a:off x="4480560" y="2834640"/>
            <a:ext cx="3200400" cy="457200"/>
          </a:xfrm>
          <a:prstGeom prst="rect">
            <a:avLst/>
          </a:prstGeom>
          <a:solidFill>
            <a:srgbClr val="1E1E2E"/>
          </a:solidFill>
          <a:ln w="19050">
            <a:solidFill>
              <a:srgbClr val="1E1E2E"/>
            </a:solidFill>
          </a:ln>
        </p:spPr>
        <p:txBody>
          <a:bodyPr/>
          <a:lstStyle/>
          <a:p>
            <a:endParaRPr lang="de-AT"/>
          </a:p>
        </p:txBody>
      </p:sp>
      <p:sp>
        <p:nvSpPr>
          <p:cNvPr id="127" name="!!figur-name"/>
          <p:cNvSpPr txBox="1"/>
          <p:nvPr/>
        </p:nvSpPr>
        <p:spPr>
          <a:xfrm>
            <a:off x="4480560" y="2834640"/>
            <a:ext cx="3200400" cy="457200"/>
          </a:xfrm>
          <a:prstGeom prst="rect">
            <a:avLst/>
          </a:prstGeom>
          <a:noFill/>
        </p:spPr>
        <p:txBody>
          <a:bodyPr wrap="square" lIns="0" tIns="0" rIns="0" bIns="0" rtlCol="0" anchor="ctr"/>
          <a:lstStyle/>
          <a:p>
            <a:pPr marL="0" indent="0" algn="ctr">
              <a:buNone/>
            </a:pPr>
            <a:r>
              <a:rPr lang="de-AT" sz="1500" b="1" i="1">
                <a:solidFill>
                  <a:srgbClr val="4EC9B0"/>
                </a:solidFill>
                <a:latin typeface="Consolas"/>
                <a:ea typeface="Consolas"/>
                <a:cs typeface="Consolas"/>
              </a:rPr>
              <a:t>Figur</a:t>
            </a:r>
            <a:r>
              <a:rPr lang="de-AT" sz="1100">
                <a:solidFill>
                  <a:srgbClr val="4EC9B0"/>
                </a:solidFill>
                <a:latin typeface="Consolas"/>
                <a:ea typeface="Consolas"/>
                <a:cs typeface="Consolas"/>
              </a:rPr>
              <a:t>  {abstract}</a:t>
            </a:r>
          </a:p>
        </p:txBody>
      </p:sp>
      <p:sp>
        <p:nvSpPr>
          <p:cNvPr id="128" name="Shape 128"/>
          <p:cNvSpPr/>
          <p:nvPr/>
        </p:nvSpPr>
        <p:spPr>
          <a:xfrm>
            <a:off x="4480560" y="3291840"/>
            <a:ext cx="3200400" cy="594360"/>
          </a:xfrm>
          <a:prstGeom prst="rect">
            <a:avLst/>
          </a:prstGeom>
          <a:solidFill>
            <a:srgbClr val="F4F4F8"/>
          </a:solidFill>
          <a:ln w="19050">
            <a:solidFill>
              <a:srgbClr val="1E1E2E"/>
            </a:solidFill>
          </a:ln>
        </p:spPr>
        <p:txBody>
          <a:bodyPr/>
          <a:lstStyle/>
          <a:p>
            <a:endParaRPr lang="de-AT"/>
          </a:p>
        </p:txBody>
      </p:sp>
      <p:sp>
        <p:nvSpPr>
          <p:cNvPr id="129" name="Text 129"/>
          <p:cNvSpPr txBox="1"/>
          <p:nvPr/>
        </p:nvSpPr>
        <p:spPr>
          <a:xfrm>
            <a:off x="4590288" y="3291840"/>
            <a:ext cx="2980944" cy="594360"/>
          </a:xfrm>
          <a:prstGeom prst="rect">
            <a:avLst/>
          </a:prstGeom>
          <a:noFill/>
        </p:spPr>
        <p:txBody>
          <a:bodyPr wrap="square" lIns="0" tIns="0" rIns="0" bIns="0" rtlCol="0" anchor="ctr"/>
          <a:lstStyle/>
          <a:p>
            <a:pPr marL="0" indent="0" algn="l">
              <a:lnSpc>
                <a:spcPct val="115000"/>
              </a:lnSpc>
              <a:buNone/>
            </a:pPr>
            <a:r>
              <a:rPr lang="de-AT" sz="1100" i="1">
                <a:solidFill>
                  <a:srgbClr val="1E1E2E"/>
                </a:solidFill>
                <a:latin typeface="Consolas"/>
                <a:ea typeface="Consolas"/>
                <a:cs typeface="Consolas"/>
              </a:rPr>
              <a:t>+ Volumen() : double</a:t>
            </a:r>
          </a:p>
          <a:p>
            <a:pPr marL="0" indent="0" algn="l">
              <a:lnSpc>
                <a:spcPct val="115000"/>
              </a:lnSpc>
              <a:buNone/>
            </a:pPr>
            <a:r>
              <a:rPr lang="de-AT" sz="1100" i="1">
                <a:solidFill>
                  <a:srgbClr val="1E1E2E"/>
                </a:solidFill>
                <a:latin typeface="Consolas"/>
                <a:ea typeface="Consolas"/>
                <a:cs typeface="Consolas"/>
              </a:rPr>
              <a:t>+ Oberflaeche() : double</a:t>
            </a:r>
          </a:p>
        </p:txBody>
      </p:sp>
      <p:sp>
        <p:nvSpPr>
          <p:cNvPr id="130" name="Shape 130"/>
          <p:cNvSpPr/>
          <p:nvPr/>
        </p:nvSpPr>
        <p:spPr>
          <a:xfrm>
            <a:off x="6080760" y="2560320"/>
            <a:ext cx="0" cy="274320"/>
          </a:xfrm>
          <a:prstGeom prst="line">
            <a:avLst/>
          </a:prstGeom>
          <a:noFill/>
          <a:ln w="25400">
            <a:solidFill>
              <a:srgbClr val="C586C0"/>
            </a:solidFill>
            <a:prstDash val="dash"/>
          </a:ln>
        </p:spPr>
        <p:txBody>
          <a:bodyPr/>
          <a:lstStyle/>
          <a:p>
            <a:endParaRPr lang="de-AT"/>
          </a:p>
        </p:txBody>
      </p:sp>
      <p:sp>
        <p:nvSpPr>
          <p:cNvPr id="131" name="Shape 131"/>
          <p:cNvSpPr/>
          <p:nvPr/>
        </p:nvSpPr>
        <p:spPr>
          <a:xfrm>
            <a:off x="5966460" y="2377440"/>
            <a:ext cx="228600" cy="182880"/>
          </a:xfrm>
          <a:prstGeom prst="triangle">
            <a:avLst/>
          </a:prstGeom>
          <a:solidFill>
            <a:srgbClr val="FFFFFF"/>
          </a:solidFill>
          <a:ln w="22225">
            <a:solidFill>
              <a:srgbClr val="C586C0"/>
            </a:solidFill>
          </a:ln>
        </p:spPr>
        <p:txBody>
          <a:bodyPr/>
          <a:lstStyle/>
          <a:p>
            <a:endParaRPr lang="de-AT"/>
          </a:p>
        </p:txBody>
      </p:sp>
      <p:sp>
        <p:nvSpPr>
          <p:cNvPr id="132" name="Text 132"/>
          <p:cNvSpPr txBox="1"/>
          <p:nvPr/>
        </p:nvSpPr>
        <p:spPr>
          <a:xfrm>
            <a:off x="6263640" y="2468880"/>
            <a:ext cx="1828800" cy="274320"/>
          </a:xfrm>
          <a:prstGeom prst="rect">
            <a:avLst/>
          </a:prstGeom>
          <a:noFill/>
        </p:spPr>
        <p:txBody>
          <a:bodyPr wrap="square" lIns="0" tIns="0" rIns="0" bIns="0" rtlCol="0" anchor="ctr"/>
          <a:lstStyle/>
          <a:p>
            <a:pPr marL="0" indent="0" algn="l">
              <a:buNone/>
            </a:pPr>
            <a:r>
              <a:rPr lang="de-AT" sz="1000" i="1">
                <a:solidFill>
                  <a:srgbClr val="C586C0"/>
                </a:solidFill>
                <a:latin typeface="Calibri"/>
                <a:ea typeface="Calibri"/>
                <a:cs typeface="Calibri"/>
              </a:rPr>
              <a:t>implementiert</a:t>
            </a:r>
          </a:p>
        </p:txBody>
      </p:sp>
      <p:sp>
        <p:nvSpPr>
          <p:cNvPr id="133" name="!!kugel-kopf"/>
          <p:cNvSpPr/>
          <p:nvPr/>
        </p:nvSpPr>
        <p:spPr>
          <a:xfrm>
            <a:off x="2377440" y="4800600"/>
            <a:ext cx="2743200" cy="411480"/>
          </a:xfrm>
          <a:prstGeom prst="rect">
            <a:avLst/>
          </a:prstGeom>
          <a:solidFill>
            <a:srgbClr val="569CD6"/>
          </a:solidFill>
          <a:ln w="19050">
            <a:solidFill>
              <a:srgbClr val="569CD6"/>
            </a:solidFill>
          </a:ln>
        </p:spPr>
        <p:txBody>
          <a:bodyPr/>
          <a:lstStyle/>
          <a:p>
            <a:endParaRPr lang="de-AT"/>
          </a:p>
        </p:txBody>
      </p:sp>
      <p:sp>
        <p:nvSpPr>
          <p:cNvPr id="134" name="!!kugel-name"/>
          <p:cNvSpPr txBox="1"/>
          <p:nvPr/>
        </p:nvSpPr>
        <p:spPr>
          <a:xfrm>
            <a:off x="2377440" y="4800600"/>
            <a:ext cx="2743200" cy="411480"/>
          </a:xfrm>
          <a:prstGeom prst="rect">
            <a:avLst/>
          </a:prstGeom>
          <a:noFill/>
        </p:spPr>
        <p:txBody>
          <a:bodyPr wrap="square" lIns="0" tIns="0" rIns="0" bIns="0" rtlCol="0" anchor="ctr"/>
          <a:lstStyle/>
          <a:p>
            <a:pPr marL="0" indent="0" algn="ctr">
              <a:buNone/>
            </a:pPr>
            <a:r>
              <a:rPr lang="de-AT" sz="1500" b="1">
                <a:solidFill>
                  <a:srgbClr val="FFFFFF"/>
                </a:solidFill>
                <a:latin typeface="Consolas"/>
                <a:ea typeface="Consolas"/>
                <a:cs typeface="Consolas"/>
              </a:rPr>
              <a:t>Kugel</a:t>
            </a:r>
          </a:p>
        </p:txBody>
      </p:sp>
      <p:sp>
        <p:nvSpPr>
          <p:cNvPr id="135" name="Shape 135"/>
          <p:cNvSpPr/>
          <p:nvPr/>
        </p:nvSpPr>
        <p:spPr>
          <a:xfrm>
            <a:off x="2377440" y="5212080"/>
            <a:ext cx="2743200" cy="320040"/>
          </a:xfrm>
          <a:prstGeom prst="rect">
            <a:avLst/>
          </a:prstGeom>
          <a:solidFill>
            <a:srgbClr val="F4F4F8"/>
          </a:solidFill>
          <a:ln w="19050">
            <a:solidFill>
              <a:srgbClr val="569CD6"/>
            </a:solidFill>
          </a:ln>
        </p:spPr>
        <p:txBody>
          <a:bodyPr/>
          <a:lstStyle/>
          <a:p>
            <a:endParaRPr lang="de-AT"/>
          </a:p>
        </p:txBody>
      </p:sp>
      <p:sp>
        <p:nvSpPr>
          <p:cNvPr id="136" name="Text 136"/>
          <p:cNvSpPr txBox="1"/>
          <p:nvPr/>
        </p:nvSpPr>
        <p:spPr>
          <a:xfrm>
            <a:off x="2487168" y="5212080"/>
            <a:ext cx="2523744" cy="320040"/>
          </a:xfrm>
          <a:prstGeom prst="rect">
            <a:avLst/>
          </a:prstGeom>
          <a:noFill/>
        </p:spPr>
        <p:txBody>
          <a:bodyPr wrap="square" lIns="0" tIns="0" rIns="0" bIns="0" rtlCol="0" anchor="ctr"/>
          <a:lstStyle/>
          <a:p>
            <a:pPr marL="0" indent="0" algn="l">
              <a:lnSpc>
                <a:spcPct val="115000"/>
              </a:lnSpc>
              <a:buNone/>
            </a:pPr>
            <a:r>
              <a:rPr lang="de-AT" sz="1100">
                <a:solidFill>
                  <a:srgbClr val="1E1E2E"/>
                </a:solidFill>
                <a:latin typeface="Consolas"/>
                <a:ea typeface="Consolas"/>
                <a:cs typeface="Consolas"/>
              </a:rPr>
              <a:t>- radius : double</a:t>
            </a:r>
          </a:p>
        </p:txBody>
      </p:sp>
      <p:sp>
        <p:nvSpPr>
          <p:cNvPr id="137" name="Shape 137"/>
          <p:cNvSpPr/>
          <p:nvPr/>
        </p:nvSpPr>
        <p:spPr>
          <a:xfrm>
            <a:off x="2377440" y="5532120"/>
            <a:ext cx="2743200" cy="548640"/>
          </a:xfrm>
          <a:prstGeom prst="rect">
            <a:avLst/>
          </a:prstGeom>
          <a:solidFill>
            <a:srgbClr val="F4F4F8"/>
          </a:solidFill>
          <a:ln w="19050">
            <a:solidFill>
              <a:srgbClr val="569CD6"/>
            </a:solidFill>
          </a:ln>
        </p:spPr>
        <p:txBody>
          <a:bodyPr/>
          <a:lstStyle/>
          <a:p>
            <a:endParaRPr lang="de-AT"/>
          </a:p>
        </p:txBody>
      </p:sp>
      <p:sp>
        <p:nvSpPr>
          <p:cNvPr id="138" name="Text 138"/>
          <p:cNvSpPr txBox="1"/>
          <p:nvPr/>
        </p:nvSpPr>
        <p:spPr>
          <a:xfrm>
            <a:off x="2487168" y="5532120"/>
            <a:ext cx="2523744" cy="548640"/>
          </a:xfrm>
          <a:prstGeom prst="rect">
            <a:avLst/>
          </a:prstGeom>
          <a:noFill/>
        </p:spPr>
        <p:txBody>
          <a:bodyPr wrap="square" lIns="0" tIns="0" rIns="0" bIns="0" rtlCol="0" anchor="ctr"/>
          <a:lstStyle/>
          <a:p>
            <a:pPr marL="0" indent="0" algn="l">
              <a:lnSpc>
                <a:spcPct val="115000"/>
              </a:lnSpc>
              <a:buNone/>
            </a:pPr>
            <a:r>
              <a:rPr lang="de-AT" sz="1100">
                <a:solidFill>
                  <a:srgbClr val="1E1E2E"/>
                </a:solidFill>
                <a:latin typeface="Consolas"/>
                <a:ea typeface="Consolas"/>
                <a:cs typeface="Consolas"/>
              </a:rPr>
              <a:t>+ Volumen() : double</a:t>
            </a:r>
          </a:p>
          <a:p>
            <a:pPr marL="0" indent="0" algn="l">
              <a:lnSpc>
                <a:spcPct val="115000"/>
              </a:lnSpc>
              <a:buNone/>
            </a:pPr>
            <a:r>
              <a:rPr lang="de-AT" sz="1100">
                <a:solidFill>
                  <a:srgbClr val="1E1E2E"/>
                </a:solidFill>
                <a:latin typeface="Consolas"/>
                <a:ea typeface="Consolas"/>
                <a:cs typeface="Consolas"/>
              </a:rPr>
              <a:t>+ Oberflaeche() : double</a:t>
            </a:r>
          </a:p>
        </p:txBody>
      </p:sp>
      <p:sp>
        <p:nvSpPr>
          <p:cNvPr id="139" name="!!wuerfel-kopf"/>
          <p:cNvSpPr/>
          <p:nvPr/>
        </p:nvSpPr>
        <p:spPr>
          <a:xfrm>
            <a:off x="7315200" y="4800600"/>
            <a:ext cx="2743200" cy="411480"/>
          </a:xfrm>
          <a:prstGeom prst="rect">
            <a:avLst/>
          </a:prstGeom>
          <a:solidFill>
            <a:srgbClr val="569CD6"/>
          </a:solidFill>
          <a:ln w="19050">
            <a:solidFill>
              <a:srgbClr val="569CD6"/>
            </a:solidFill>
          </a:ln>
        </p:spPr>
        <p:txBody>
          <a:bodyPr/>
          <a:lstStyle/>
          <a:p>
            <a:endParaRPr lang="de-AT"/>
          </a:p>
        </p:txBody>
      </p:sp>
      <p:sp>
        <p:nvSpPr>
          <p:cNvPr id="140" name="!!wuerfel-name"/>
          <p:cNvSpPr txBox="1"/>
          <p:nvPr/>
        </p:nvSpPr>
        <p:spPr>
          <a:xfrm>
            <a:off x="7315200" y="4800600"/>
            <a:ext cx="2743200" cy="411480"/>
          </a:xfrm>
          <a:prstGeom prst="rect">
            <a:avLst/>
          </a:prstGeom>
          <a:noFill/>
        </p:spPr>
        <p:txBody>
          <a:bodyPr wrap="square" lIns="0" tIns="0" rIns="0" bIns="0" rtlCol="0" anchor="ctr"/>
          <a:lstStyle/>
          <a:p>
            <a:pPr marL="0" indent="0" algn="ctr">
              <a:buNone/>
            </a:pPr>
            <a:r>
              <a:rPr lang="de-AT" sz="1500" b="1">
                <a:solidFill>
                  <a:srgbClr val="FFFFFF"/>
                </a:solidFill>
                <a:latin typeface="Consolas"/>
                <a:ea typeface="Consolas"/>
                <a:cs typeface="Consolas"/>
              </a:rPr>
              <a:t>Wuerfel</a:t>
            </a:r>
          </a:p>
        </p:txBody>
      </p:sp>
      <p:sp>
        <p:nvSpPr>
          <p:cNvPr id="141" name="Shape 141"/>
          <p:cNvSpPr/>
          <p:nvPr/>
        </p:nvSpPr>
        <p:spPr>
          <a:xfrm>
            <a:off x="7315200" y="5212080"/>
            <a:ext cx="2743200" cy="320040"/>
          </a:xfrm>
          <a:prstGeom prst="rect">
            <a:avLst/>
          </a:prstGeom>
          <a:solidFill>
            <a:srgbClr val="F4F4F8"/>
          </a:solidFill>
          <a:ln w="19050">
            <a:solidFill>
              <a:srgbClr val="569CD6"/>
            </a:solidFill>
          </a:ln>
        </p:spPr>
        <p:txBody>
          <a:bodyPr/>
          <a:lstStyle/>
          <a:p>
            <a:endParaRPr lang="de-AT"/>
          </a:p>
        </p:txBody>
      </p:sp>
      <p:sp>
        <p:nvSpPr>
          <p:cNvPr id="142" name="Text 142"/>
          <p:cNvSpPr txBox="1"/>
          <p:nvPr/>
        </p:nvSpPr>
        <p:spPr>
          <a:xfrm>
            <a:off x="7424928" y="5212080"/>
            <a:ext cx="2523744" cy="320040"/>
          </a:xfrm>
          <a:prstGeom prst="rect">
            <a:avLst/>
          </a:prstGeom>
          <a:noFill/>
        </p:spPr>
        <p:txBody>
          <a:bodyPr wrap="square" lIns="0" tIns="0" rIns="0" bIns="0" rtlCol="0" anchor="ctr"/>
          <a:lstStyle/>
          <a:p>
            <a:pPr marL="0" indent="0" algn="l">
              <a:lnSpc>
                <a:spcPct val="115000"/>
              </a:lnSpc>
              <a:buNone/>
            </a:pPr>
            <a:r>
              <a:rPr lang="de-AT" sz="1100">
                <a:solidFill>
                  <a:srgbClr val="1E1E2E"/>
                </a:solidFill>
                <a:latin typeface="Consolas"/>
                <a:ea typeface="Consolas"/>
                <a:cs typeface="Consolas"/>
              </a:rPr>
              <a:t>- seitenlaenge : double</a:t>
            </a:r>
          </a:p>
        </p:txBody>
      </p:sp>
      <p:sp>
        <p:nvSpPr>
          <p:cNvPr id="143" name="Shape 143"/>
          <p:cNvSpPr/>
          <p:nvPr/>
        </p:nvSpPr>
        <p:spPr>
          <a:xfrm>
            <a:off x="7315200" y="5532120"/>
            <a:ext cx="2743200" cy="548640"/>
          </a:xfrm>
          <a:prstGeom prst="rect">
            <a:avLst/>
          </a:prstGeom>
          <a:solidFill>
            <a:srgbClr val="F4F4F8"/>
          </a:solidFill>
          <a:ln w="19050">
            <a:solidFill>
              <a:srgbClr val="569CD6"/>
            </a:solidFill>
          </a:ln>
        </p:spPr>
        <p:txBody>
          <a:bodyPr/>
          <a:lstStyle/>
          <a:p>
            <a:endParaRPr lang="de-AT"/>
          </a:p>
        </p:txBody>
      </p:sp>
      <p:sp>
        <p:nvSpPr>
          <p:cNvPr id="144" name="Text 144"/>
          <p:cNvSpPr txBox="1"/>
          <p:nvPr/>
        </p:nvSpPr>
        <p:spPr>
          <a:xfrm>
            <a:off x="7424928" y="5532120"/>
            <a:ext cx="2523744" cy="548640"/>
          </a:xfrm>
          <a:prstGeom prst="rect">
            <a:avLst/>
          </a:prstGeom>
          <a:noFill/>
        </p:spPr>
        <p:txBody>
          <a:bodyPr wrap="square" lIns="0" tIns="0" rIns="0" bIns="0" rtlCol="0" anchor="ctr"/>
          <a:lstStyle/>
          <a:p>
            <a:pPr marL="0" indent="0" algn="l">
              <a:lnSpc>
                <a:spcPct val="115000"/>
              </a:lnSpc>
              <a:buNone/>
            </a:pPr>
            <a:r>
              <a:rPr lang="de-AT" sz="1100">
                <a:solidFill>
                  <a:srgbClr val="1E1E2E"/>
                </a:solidFill>
                <a:latin typeface="Consolas"/>
                <a:ea typeface="Consolas"/>
                <a:cs typeface="Consolas"/>
              </a:rPr>
              <a:t>+ Volumen() : double</a:t>
            </a:r>
          </a:p>
          <a:p>
            <a:pPr marL="0" indent="0" algn="l">
              <a:lnSpc>
                <a:spcPct val="115000"/>
              </a:lnSpc>
              <a:buNone/>
            </a:pPr>
            <a:r>
              <a:rPr lang="de-AT" sz="1100">
                <a:solidFill>
                  <a:srgbClr val="1E1E2E"/>
                </a:solidFill>
                <a:latin typeface="Consolas"/>
                <a:ea typeface="Consolas"/>
                <a:cs typeface="Consolas"/>
              </a:rPr>
              <a:t>+ Oberflaeche() : double</a:t>
            </a:r>
          </a:p>
        </p:txBody>
      </p:sp>
      <p:sp>
        <p:nvSpPr>
          <p:cNvPr id="145" name="Shape 145"/>
          <p:cNvSpPr/>
          <p:nvPr/>
        </p:nvSpPr>
        <p:spPr>
          <a:xfrm>
            <a:off x="6080760" y="4069080"/>
            <a:ext cx="0" cy="228600"/>
          </a:xfrm>
          <a:prstGeom prst="line">
            <a:avLst/>
          </a:prstGeom>
          <a:noFill/>
          <a:ln w="25400">
            <a:solidFill>
              <a:srgbClr val="569CD6"/>
            </a:solidFill>
          </a:ln>
        </p:spPr>
        <p:txBody>
          <a:bodyPr/>
          <a:lstStyle/>
          <a:p>
            <a:endParaRPr lang="de-AT"/>
          </a:p>
        </p:txBody>
      </p:sp>
      <p:sp>
        <p:nvSpPr>
          <p:cNvPr id="146" name="Shape 146"/>
          <p:cNvSpPr/>
          <p:nvPr/>
        </p:nvSpPr>
        <p:spPr>
          <a:xfrm>
            <a:off x="3749040" y="4297680"/>
            <a:ext cx="4937760" cy="0"/>
          </a:xfrm>
          <a:prstGeom prst="line">
            <a:avLst/>
          </a:prstGeom>
          <a:noFill/>
          <a:ln w="25400">
            <a:solidFill>
              <a:srgbClr val="569CD6"/>
            </a:solidFill>
          </a:ln>
        </p:spPr>
        <p:txBody>
          <a:bodyPr/>
          <a:lstStyle/>
          <a:p>
            <a:endParaRPr lang="de-AT"/>
          </a:p>
        </p:txBody>
      </p:sp>
      <p:sp>
        <p:nvSpPr>
          <p:cNvPr id="147" name="Shape 147"/>
          <p:cNvSpPr/>
          <p:nvPr/>
        </p:nvSpPr>
        <p:spPr>
          <a:xfrm>
            <a:off x="3749040" y="4297680"/>
            <a:ext cx="0" cy="502920"/>
          </a:xfrm>
          <a:prstGeom prst="line">
            <a:avLst/>
          </a:prstGeom>
          <a:noFill/>
          <a:ln w="25400">
            <a:solidFill>
              <a:srgbClr val="569CD6"/>
            </a:solidFill>
          </a:ln>
        </p:spPr>
        <p:txBody>
          <a:bodyPr/>
          <a:lstStyle/>
          <a:p>
            <a:endParaRPr lang="de-AT"/>
          </a:p>
        </p:txBody>
      </p:sp>
      <p:sp>
        <p:nvSpPr>
          <p:cNvPr id="148" name="Shape 148"/>
          <p:cNvSpPr/>
          <p:nvPr/>
        </p:nvSpPr>
        <p:spPr>
          <a:xfrm>
            <a:off x="8686800" y="4297680"/>
            <a:ext cx="0" cy="502920"/>
          </a:xfrm>
          <a:prstGeom prst="line">
            <a:avLst/>
          </a:prstGeom>
          <a:noFill/>
          <a:ln w="25400">
            <a:solidFill>
              <a:srgbClr val="569CD6"/>
            </a:solidFill>
          </a:ln>
        </p:spPr>
        <p:txBody>
          <a:bodyPr/>
          <a:lstStyle/>
          <a:p>
            <a:endParaRPr lang="de-AT"/>
          </a:p>
        </p:txBody>
      </p:sp>
      <p:sp>
        <p:nvSpPr>
          <p:cNvPr id="149" name="Shape 149"/>
          <p:cNvSpPr/>
          <p:nvPr/>
        </p:nvSpPr>
        <p:spPr>
          <a:xfrm>
            <a:off x="5966460" y="3886200"/>
            <a:ext cx="228600" cy="182880"/>
          </a:xfrm>
          <a:prstGeom prst="triangle">
            <a:avLst/>
          </a:prstGeom>
          <a:solidFill>
            <a:srgbClr val="FFFFFF"/>
          </a:solidFill>
          <a:ln w="22225">
            <a:solidFill>
              <a:srgbClr val="569CD6"/>
            </a:solidFill>
          </a:ln>
        </p:spPr>
        <p:txBody>
          <a:bodyPr/>
          <a:lstStyle/>
          <a:p>
            <a:endParaRPr lang="de-AT"/>
          </a:p>
        </p:txBody>
      </p:sp>
      <p:sp>
        <p:nvSpPr>
          <p:cNvPr id="150" name="Text 150"/>
          <p:cNvSpPr txBox="1"/>
          <p:nvPr/>
        </p:nvSpPr>
        <p:spPr>
          <a:xfrm>
            <a:off x="6263640" y="3977640"/>
            <a:ext cx="1463040" cy="228600"/>
          </a:xfrm>
          <a:prstGeom prst="rect">
            <a:avLst/>
          </a:prstGeom>
          <a:noFill/>
        </p:spPr>
        <p:txBody>
          <a:bodyPr wrap="square" lIns="0" tIns="0" rIns="0" bIns="0" rtlCol="0" anchor="ctr"/>
          <a:lstStyle/>
          <a:p>
            <a:pPr marL="0" indent="0" algn="l">
              <a:buNone/>
            </a:pPr>
            <a:r>
              <a:rPr lang="de-AT" sz="1000" i="1">
                <a:solidFill>
                  <a:srgbClr val="569CD6"/>
                </a:solidFill>
                <a:latin typeface="Calibri"/>
                <a:ea typeface="Calibri"/>
                <a:cs typeface="Calibri"/>
              </a:rPr>
              <a:t>erbt von</a:t>
            </a:r>
          </a:p>
        </p:txBody>
      </p:sp>
      <p:sp>
        <p:nvSpPr>
          <p:cNvPr id="151" name="Text 151"/>
          <p:cNvSpPr txBox="1"/>
          <p:nvPr/>
        </p:nvSpPr>
        <p:spPr>
          <a:xfrm>
            <a:off x="8138160" y="1417320"/>
            <a:ext cx="3474720" cy="640080"/>
          </a:xfrm>
          <a:prstGeom prst="rect">
            <a:avLst/>
          </a:prstGeom>
          <a:noFill/>
        </p:spPr>
        <p:txBody>
          <a:bodyPr wrap="square" lIns="0" tIns="0" rIns="0" bIns="0" rtlCol="0" anchor="ctr"/>
          <a:lstStyle/>
          <a:p>
            <a:pPr marL="0" indent="0" algn="l">
              <a:buNone/>
            </a:pPr>
            <a:r>
              <a:rPr lang="de-AT" sz="1100" i="1">
                <a:solidFill>
                  <a:srgbClr val="6B6B80"/>
                </a:solidFill>
                <a:latin typeface="Calibri"/>
                <a:ea typeface="Calibri"/>
                <a:cs typeface="Calibri"/>
              </a:rPr>
              <a:t>kursiv = abstrakt</a:t>
            </a:r>
          </a:p>
          <a:p>
            <a:pPr marL="0" indent="0" algn="l">
              <a:buNone/>
            </a:pPr>
            <a:r>
              <a:rPr lang="de-AT" sz="1000">
                <a:solidFill>
                  <a:srgbClr val="6B6B80"/>
                </a:solidFill>
                <a:latin typeface="Calibri"/>
                <a:ea typeface="Calibri"/>
                <a:cs typeface="Calibri"/>
              </a:rPr>
              <a:t>(muss in der Unterklasse überschrieben werden)</a:t>
            </a:r>
          </a:p>
        </p:txBody>
      </p:sp>
      <p:sp>
        <p:nvSpPr>
          <p:cNvPr id="152" name="Text 152"/>
          <p:cNvSpPr txBox="1"/>
          <p:nvPr/>
        </p:nvSpPr>
        <p:spPr>
          <a:xfrm>
            <a:off x="457200" y="6537960"/>
            <a:ext cx="7315200" cy="274320"/>
          </a:xfrm>
          <a:prstGeom prst="rect">
            <a:avLst/>
          </a:prstGeom>
          <a:noFill/>
        </p:spPr>
        <p:txBody>
          <a:bodyPr wrap="square" lIns="0" tIns="0" rIns="0" bIns="0" rtlCol="0" anchor="ctr"/>
          <a:lstStyle/>
          <a:p>
            <a:pPr marL="0" indent="0" algn="l">
              <a:buNone/>
            </a:pPr>
            <a:r>
              <a:rPr lang="de-AT" sz="1000">
                <a:solidFill>
                  <a:srgbClr val="B0B0B0"/>
                </a:solidFill>
                <a:latin typeface="Calibri"/>
                <a:ea typeface="Calibri"/>
                <a:cs typeface="Calibri"/>
              </a:rPr>
              <a:t>Klassendiagramme · Kaltenbrunner &amp; Spring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53" name="!!bg"/>
          <p:cNvSpPr/>
          <p:nvPr/>
        </p:nvSpPr>
        <p:spPr>
          <a:xfrm>
            <a:off x="0" y="0"/>
            <a:ext cx="12188952" cy="6858000"/>
          </a:xfrm>
          <a:prstGeom prst="rect">
            <a:avLst/>
          </a:prstGeom>
          <a:solidFill>
            <a:srgbClr val="1E1E2E"/>
          </a:solidFill>
          <a:ln>
            <a:noFill/>
          </a:ln>
        </p:spPr>
        <p:txBody>
          <a:bodyPr/>
          <a:lstStyle/>
          <a:p>
            <a:endParaRPr lang="de-AT"/>
          </a:p>
        </p:txBody>
      </p:sp>
      <p:sp>
        <p:nvSpPr>
          <p:cNvPr id="154" name="!!title"/>
          <p:cNvSpPr txBox="1"/>
          <p:nvPr/>
        </p:nvSpPr>
        <p:spPr>
          <a:xfrm>
            <a:off x="548640" y="411480"/>
            <a:ext cx="10515600" cy="731520"/>
          </a:xfrm>
          <a:prstGeom prst="rect">
            <a:avLst/>
          </a:prstGeom>
          <a:noFill/>
        </p:spPr>
        <p:txBody>
          <a:bodyPr wrap="square" lIns="0" tIns="0" rIns="0" bIns="0" rtlCol="0" anchor="ctr"/>
          <a:lstStyle/>
          <a:p>
            <a:pPr marL="0" indent="0" algn="l">
              <a:buNone/>
            </a:pPr>
            <a:r>
              <a:rPr lang="de-AT" sz="3400" b="1" dirty="0">
                <a:solidFill>
                  <a:srgbClr val="FFFFFF"/>
                </a:solidFill>
                <a:latin typeface="Calibri"/>
                <a:ea typeface="Calibri"/>
                <a:cs typeface="Calibri"/>
              </a:rPr>
              <a:t>Fehlersuche?</a:t>
            </a:r>
          </a:p>
        </p:txBody>
      </p:sp>
      <p:sp>
        <p:nvSpPr>
          <p:cNvPr id="155" name="Text 155"/>
          <p:cNvSpPr txBox="1"/>
          <p:nvPr/>
        </p:nvSpPr>
        <p:spPr>
          <a:xfrm>
            <a:off x="548640" y="1051560"/>
            <a:ext cx="10515600" cy="365760"/>
          </a:xfrm>
          <a:prstGeom prst="rect">
            <a:avLst/>
          </a:prstGeom>
          <a:noFill/>
        </p:spPr>
        <p:txBody>
          <a:bodyPr wrap="square" lIns="0" tIns="0" rIns="0" bIns="0" rtlCol="0" anchor="ctr"/>
          <a:lstStyle/>
          <a:p>
            <a:pPr marL="0" indent="0" algn="l">
              <a:buNone/>
            </a:pPr>
            <a:r>
              <a:rPr lang="de-AT" sz="1600" i="1" dirty="0">
                <a:solidFill>
                  <a:srgbClr val="B8B8CC"/>
                </a:solidFill>
                <a:latin typeface="Calibri"/>
                <a:ea typeface="Calibri"/>
                <a:cs typeface="Calibri"/>
              </a:rPr>
              <a:t>Code passt nicht zum Klassendiagramm – warum?</a:t>
            </a:r>
          </a:p>
        </p:txBody>
      </p:sp>
      <p:sp>
        <p:nvSpPr>
          <p:cNvPr id="156" name="!!ifigur-kopf"/>
          <p:cNvSpPr/>
          <p:nvPr/>
        </p:nvSpPr>
        <p:spPr>
          <a:xfrm>
            <a:off x="1783080" y="1783080"/>
            <a:ext cx="1737360" cy="548640"/>
          </a:xfrm>
          <a:prstGeom prst="rect">
            <a:avLst/>
          </a:prstGeom>
          <a:solidFill>
            <a:srgbClr val="3A3A50"/>
          </a:solidFill>
          <a:ln w="19050">
            <a:solidFill>
              <a:srgbClr val="C586C0"/>
            </a:solidFill>
          </a:ln>
        </p:spPr>
        <p:txBody>
          <a:bodyPr/>
          <a:lstStyle/>
          <a:p>
            <a:endParaRPr lang="de-AT"/>
          </a:p>
        </p:txBody>
      </p:sp>
      <p:sp>
        <p:nvSpPr>
          <p:cNvPr id="157" name="!!ifigur-name"/>
          <p:cNvSpPr txBox="1"/>
          <p:nvPr/>
        </p:nvSpPr>
        <p:spPr>
          <a:xfrm>
            <a:off x="1783080" y="1783080"/>
            <a:ext cx="1737360" cy="548640"/>
          </a:xfrm>
          <a:prstGeom prst="rect">
            <a:avLst/>
          </a:prstGeom>
          <a:noFill/>
        </p:spPr>
        <p:txBody>
          <a:bodyPr wrap="square" lIns="0" tIns="0" rIns="0" bIns="0" rtlCol="0" anchor="ctr"/>
          <a:lstStyle/>
          <a:p>
            <a:pPr marL="0" indent="0" algn="ctr">
              <a:buNone/>
            </a:pPr>
            <a:r>
              <a:rPr lang="de-AT" sz="900" i="1">
                <a:solidFill>
                  <a:srgbClr val="C586C0"/>
                </a:solidFill>
                <a:latin typeface="Calibri"/>
                <a:ea typeface="Calibri"/>
                <a:cs typeface="Calibri"/>
              </a:rPr>
              <a:t>«interface»</a:t>
            </a:r>
          </a:p>
          <a:p>
            <a:pPr marL="0" indent="0" algn="ctr">
              <a:buNone/>
            </a:pPr>
            <a:r>
              <a:rPr lang="de-AT" sz="1300" b="1">
                <a:solidFill>
                  <a:srgbClr val="FFFFFF"/>
                </a:solidFill>
                <a:latin typeface="Consolas"/>
                <a:ea typeface="Consolas"/>
                <a:cs typeface="Consolas"/>
              </a:rPr>
              <a:t>IFigur</a:t>
            </a:r>
          </a:p>
        </p:txBody>
      </p:sp>
      <p:sp>
        <p:nvSpPr>
          <p:cNvPr id="158" name="!!figur-kopf"/>
          <p:cNvSpPr/>
          <p:nvPr/>
        </p:nvSpPr>
        <p:spPr>
          <a:xfrm>
            <a:off x="1783080" y="2880360"/>
            <a:ext cx="1737360" cy="457200"/>
          </a:xfrm>
          <a:prstGeom prst="rect">
            <a:avLst/>
          </a:prstGeom>
          <a:solidFill>
            <a:srgbClr val="3A3A50"/>
          </a:solidFill>
          <a:ln w="19050">
            <a:solidFill>
              <a:srgbClr val="4EC9B0"/>
            </a:solidFill>
          </a:ln>
        </p:spPr>
        <p:txBody>
          <a:bodyPr/>
          <a:lstStyle/>
          <a:p>
            <a:endParaRPr lang="de-AT"/>
          </a:p>
        </p:txBody>
      </p:sp>
      <p:sp>
        <p:nvSpPr>
          <p:cNvPr id="159" name="!!figur-name"/>
          <p:cNvSpPr txBox="1"/>
          <p:nvPr/>
        </p:nvSpPr>
        <p:spPr>
          <a:xfrm>
            <a:off x="1783080" y="2880360"/>
            <a:ext cx="1737360" cy="457200"/>
          </a:xfrm>
          <a:prstGeom prst="rect">
            <a:avLst/>
          </a:prstGeom>
          <a:noFill/>
        </p:spPr>
        <p:txBody>
          <a:bodyPr wrap="square" lIns="0" tIns="0" rIns="0" bIns="0" rtlCol="0" anchor="ctr"/>
          <a:lstStyle/>
          <a:p>
            <a:pPr marL="0" indent="0" algn="ctr">
              <a:buNone/>
            </a:pPr>
            <a:r>
              <a:rPr lang="de-AT" sz="1300" b="1" i="1">
                <a:solidFill>
                  <a:srgbClr val="4EC9B0"/>
                </a:solidFill>
                <a:latin typeface="Consolas"/>
                <a:ea typeface="Consolas"/>
                <a:cs typeface="Consolas"/>
              </a:rPr>
              <a:t>Figur</a:t>
            </a:r>
          </a:p>
        </p:txBody>
      </p:sp>
      <p:sp>
        <p:nvSpPr>
          <p:cNvPr id="160" name="Shape 160"/>
          <p:cNvSpPr/>
          <p:nvPr/>
        </p:nvSpPr>
        <p:spPr>
          <a:xfrm>
            <a:off x="2651760" y="2514600"/>
            <a:ext cx="0" cy="365760"/>
          </a:xfrm>
          <a:prstGeom prst="line">
            <a:avLst/>
          </a:prstGeom>
          <a:noFill/>
          <a:ln w="22225">
            <a:solidFill>
              <a:srgbClr val="C586C0"/>
            </a:solidFill>
            <a:prstDash val="dash"/>
          </a:ln>
        </p:spPr>
        <p:txBody>
          <a:bodyPr/>
          <a:lstStyle/>
          <a:p>
            <a:endParaRPr lang="de-AT"/>
          </a:p>
        </p:txBody>
      </p:sp>
      <p:sp>
        <p:nvSpPr>
          <p:cNvPr id="161" name="Shape 161"/>
          <p:cNvSpPr/>
          <p:nvPr/>
        </p:nvSpPr>
        <p:spPr>
          <a:xfrm>
            <a:off x="2537460" y="2331720"/>
            <a:ext cx="228600" cy="182880"/>
          </a:xfrm>
          <a:prstGeom prst="triangle">
            <a:avLst/>
          </a:prstGeom>
          <a:solidFill>
            <a:srgbClr val="1E1E2E"/>
          </a:solidFill>
          <a:ln w="22225">
            <a:solidFill>
              <a:srgbClr val="C586C0"/>
            </a:solidFill>
          </a:ln>
        </p:spPr>
        <p:txBody>
          <a:bodyPr/>
          <a:lstStyle/>
          <a:p>
            <a:endParaRPr lang="de-AT"/>
          </a:p>
        </p:txBody>
      </p:sp>
      <p:sp>
        <p:nvSpPr>
          <p:cNvPr id="162" name="!!kugel-kopf"/>
          <p:cNvSpPr/>
          <p:nvPr/>
        </p:nvSpPr>
        <p:spPr>
          <a:xfrm>
            <a:off x="685800" y="4114800"/>
            <a:ext cx="1737360" cy="457200"/>
          </a:xfrm>
          <a:prstGeom prst="rect">
            <a:avLst/>
          </a:prstGeom>
          <a:solidFill>
            <a:srgbClr val="3A3A50"/>
          </a:solidFill>
          <a:ln w="19050">
            <a:solidFill>
              <a:srgbClr val="569CD6"/>
            </a:solidFill>
          </a:ln>
        </p:spPr>
        <p:txBody>
          <a:bodyPr/>
          <a:lstStyle/>
          <a:p>
            <a:endParaRPr lang="de-AT"/>
          </a:p>
        </p:txBody>
      </p:sp>
      <p:sp>
        <p:nvSpPr>
          <p:cNvPr id="163" name="!!kugel-name"/>
          <p:cNvSpPr txBox="1"/>
          <p:nvPr/>
        </p:nvSpPr>
        <p:spPr>
          <a:xfrm>
            <a:off x="685800" y="4114800"/>
            <a:ext cx="1737360" cy="457200"/>
          </a:xfrm>
          <a:prstGeom prst="rect">
            <a:avLst/>
          </a:prstGeom>
          <a:noFill/>
        </p:spPr>
        <p:txBody>
          <a:bodyPr wrap="square" lIns="0" tIns="0" rIns="0" bIns="0" rtlCol="0" anchor="ctr"/>
          <a:lstStyle/>
          <a:p>
            <a:pPr marL="0" indent="0" algn="ctr">
              <a:buNone/>
            </a:pPr>
            <a:r>
              <a:rPr lang="de-AT" sz="1300" b="1">
                <a:solidFill>
                  <a:srgbClr val="FFFFFF"/>
                </a:solidFill>
                <a:latin typeface="Consolas"/>
                <a:ea typeface="Consolas"/>
                <a:cs typeface="Consolas"/>
              </a:rPr>
              <a:t>Kugel</a:t>
            </a:r>
          </a:p>
        </p:txBody>
      </p:sp>
      <p:sp>
        <p:nvSpPr>
          <p:cNvPr id="164" name="!!wuerfel-kopf"/>
          <p:cNvSpPr/>
          <p:nvPr/>
        </p:nvSpPr>
        <p:spPr>
          <a:xfrm>
            <a:off x="2880360" y="4114800"/>
            <a:ext cx="1737360" cy="457200"/>
          </a:xfrm>
          <a:prstGeom prst="rect">
            <a:avLst/>
          </a:prstGeom>
          <a:solidFill>
            <a:srgbClr val="3A3A50"/>
          </a:solidFill>
          <a:ln w="19050">
            <a:solidFill>
              <a:srgbClr val="569CD6"/>
            </a:solidFill>
          </a:ln>
        </p:spPr>
        <p:txBody>
          <a:bodyPr/>
          <a:lstStyle/>
          <a:p>
            <a:endParaRPr lang="de-AT"/>
          </a:p>
        </p:txBody>
      </p:sp>
      <p:sp>
        <p:nvSpPr>
          <p:cNvPr id="165" name="!!wuerfel-name"/>
          <p:cNvSpPr txBox="1"/>
          <p:nvPr/>
        </p:nvSpPr>
        <p:spPr>
          <a:xfrm>
            <a:off x="2880360" y="4114800"/>
            <a:ext cx="1737360" cy="457200"/>
          </a:xfrm>
          <a:prstGeom prst="rect">
            <a:avLst/>
          </a:prstGeom>
          <a:noFill/>
        </p:spPr>
        <p:txBody>
          <a:bodyPr wrap="square" lIns="0" tIns="0" rIns="0" bIns="0" rtlCol="0" anchor="ctr"/>
          <a:lstStyle/>
          <a:p>
            <a:pPr marL="0" indent="0" algn="ctr">
              <a:buNone/>
            </a:pPr>
            <a:r>
              <a:rPr lang="de-AT" sz="1300" b="1">
                <a:solidFill>
                  <a:srgbClr val="FFFFFF"/>
                </a:solidFill>
                <a:latin typeface="Consolas"/>
                <a:ea typeface="Consolas"/>
                <a:cs typeface="Consolas"/>
              </a:rPr>
              <a:t>Wuerfel</a:t>
            </a:r>
          </a:p>
        </p:txBody>
      </p:sp>
      <p:sp>
        <p:nvSpPr>
          <p:cNvPr id="166" name="Shape 166"/>
          <p:cNvSpPr/>
          <p:nvPr/>
        </p:nvSpPr>
        <p:spPr>
          <a:xfrm>
            <a:off x="2651760" y="3520440"/>
            <a:ext cx="0" cy="228600"/>
          </a:xfrm>
          <a:prstGeom prst="line">
            <a:avLst/>
          </a:prstGeom>
          <a:noFill/>
          <a:ln w="22225">
            <a:solidFill>
              <a:srgbClr val="569CD6"/>
            </a:solidFill>
          </a:ln>
        </p:spPr>
        <p:txBody>
          <a:bodyPr/>
          <a:lstStyle/>
          <a:p>
            <a:endParaRPr lang="de-AT"/>
          </a:p>
        </p:txBody>
      </p:sp>
      <p:sp>
        <p:nvSpPr>
          <p:cNvPr id="167" name="Shape 167"/>
          <p:cNvSpPr/>
          <p:nvPr/>
        </p:nvSpPr>
        <p:spPr>
          <a:xfrm>
            <a:off x="1554480" y="3749040"/>
            <a:ext cx="2194560" cy="0"/>
          </a:xfrm>
          <a:prstGeom prst="line">
            <a:avLst/>
          </a:prstGeom>
          <a:noFill/>
          <a:ln w="22225">
            <a:solidFill>
              <a:srgbClr val="569CD6"/>
            </a:solidFill>
          </a:ln>
        </p:spPr>
        <p:txBody>
          <a:bodyPr/>
          <a:lstStyle/>
          <a:p>
            <a:endParaRPr lang="de-AT"/>
          </a:p>
        </p:txBody>
      </p:sp>
      <p:sp>
        <p:nvSpPr>
          <p:cNvPr id="168" name="Shape 168"/>
          <p:cNvSpPr/>
          <p:nvPr/>
        </p:nvSpPr>
        <p:spPr>
          <a:xfrm>
            <a:off x="1554480" y="3749040"/>
            <a:ext cx="0" cy="365760"/>
          </a:xfrm>
          <a:prstGeom prst="line">
            <a:avLst/>
          </a:prstGeom>
          <a:noFill/>
          <a:ln w="22225">
            <a:solidFill>
              <a:srgbClr val="569CD6"/>
            </a:solidFill>
          </a:ln>
        </p:spPr>
        <p:txBody>
          <a:bodyPr/>
          <a:lstStyle/>
          <a:p>
            <a:endParaRPr lang="de-AT"/>
          </a:p>
        </p:txBody>
      </p:sp>
      <p:sp>
        <p:nvSpPr>
          <p:cNvPr id="169" name="Shape 169"/>
          <p:cNvSpPr/>
          <p:nvPr/>
        </p:nvSpPr>
        <p:spPr>
          <a:xfrm>
            <a:off x="3749040" y="3749040"/>
            <a:ext cx="0" cy="365760"/>
          </a:xfrm>
          <a:prstGeom prst="line">
            <a:avLst/>
          </a:prstGeom>
          <a:noFill/>
          <a:ln w="22225">
            <a:solidFill>
              <a:srgbClr val="569CD6"/>
            </a:solidFill>
          </a:ln>
        </p:spPr>
        <p:txBody>
          <a:bodyPr/>
          <a:lstStyle/>
          <a:p>
            <a:endParaRPr lang="de-AT"/>
          </a:p>
        </p:txBody>
      </p:sp>
      <p:sp>
        <p:nvSpPr>
          <p:cNvPr id="170" name="Shape 170"/>
          <p:cNvSpPr/>
          <p:nvPr/>
        </p:nvSpPr>
        <p:spPr>
          <a:xfrm>
            <a:off x="2537460" y="3337560"/>
            <a:ext cx="228600" cy="182880"/>
          </a:xfrm>
          <a:prstGeom prst="triangle">
            <a:avLst/>
          </a:prstGeom>
          <a:solidFill>
            <a:srgbClr val="1E1E2E"/>
          </a:solidFill>
          <a:ln w="22225">
            <a:solidFill>
              <a:srgbClr val="569CD6"/>
            </a:solidFill>
          </a:ln>
        </p:spPr>
        <p:txBody>
          <a:bodyPr/>
          <a:lstStyle/>
          <a:p>
            <a:endParaRPr lang="de-AT"/>
          </a:p>
        </p:txBody>
      </p:sp>
      <p:sp>
        <p:nvSpPr>
          <p:cNvPr id="171" name="Text 171"/>
          <p:cNvSpPr txBox="1"/>
          <p:nvPr/>
        </p:nvSpPr>
        <p:spPr>
          <a:xfrm>
            <a:off x="548640" y="4754880"/>
            <a:ext cx="4206240" cy="320040"/>
          </a:xfrm>
          <a:prstGeom prst="rect">
            <a:avLst/>
          </a:prstGeom>
          <a:noFill/>
        </p:spPr>
        <p:txBody>
          <a:bodyPr wrap="square" lIns="0" tIns="0" rIns="0" bIns="0" rtlCol="0" anchor="ctr"/>
          <a:lstStyle/>
          <a:p>
            <a:pPr marL="0" indent="0" algn="ctr">
              <a:buNone/>
            </a:pPr>
            <a:r>
              <a:rPr lang="de-AT" sz="1100" i="1">
                <a:solidFill>
                  <a:srgbClr val="9A9AAE"/>
                </a:solidFill>
                <a:latin typeface="Calibri"/>
                <a:ea typeface="Calibri"/>
                <a:cs typeface="Calibri"/>
              </a:rPr>
              <a:t>So steht es im Klassendiagramm</a:t>
            </a:r>
          </a:p>
        </p:txBody>
      </p:sp>
      <p:sp>
        <p:nvSpPr>
          <p:cNvPr id="172" name="!!codebox"/>
          <p:cNvSpPr/>
          <p:nvPr/>
        </p:nvSpPr>
        <p:spPr>
          <a:xfrm>
            <a:off x="5303520" y="1737360"/>
            <a:ext cx="6400800" cy="4206240"/>
          </a:xfrm>
          <a:prstGeom prst="roundRect">
            <a:avLst>
              <a:gd name="adj" fmla="val 4000"/>
            </a:avLst>
          </a:prstGeom>
          <a:solidFill>
            <a:srgbClr val="141420"/>
          </a:solidFill>
          <a:ln w="12700">
            <a:solidFill>
              <a:srgbClr val="3A3A50"/>
            </a:solidFill>
          </a:ln>
        </p:spPr>
        <p:txBody>
          <a:bodyPr/>
          <a:lstStyle/>
          <a:p>
            <a:endParaRPr lang="de-AT"/>
          </a:p>
        </p:txBody>
      </p:sp>
      <p:sp>
        <p:nvSpPr>
          <p:cNvPr id="173" name="Text 173"/>
          <p:cNvSpPr txBox="1"/>
          <p:nvPr/>
        </p:nvSpPr>
        <p:spPr>
          <a:xfrm>
            <a:off x="5623560" y="1920240"/>
            <a:ext cx="5760720" cy="3840480"/>
          </a:xfrm>
          <a:prstGeom prst="rect">
            <a:avLst/>
          </a:prstGeom>
          <a:noFill/>
        </p:spPr>
        <p:txBody>
          <a:bodyPr wrap="square" lIns="0" tIns="0" rIns="0" bIns="0" rtlCol="0" anchor="ctr"/>
          <a:lstStyle/>
          <a:p>
            <a:pPr marL="0" indent="0" algn="l">
              <a:lnSpc>
                <a:spcPct val="100000"/>
              </a:lnSpc>
              <a:buNone/>
            </a:pPr>
            <a:r>
              <a:rPr lang="de-AT" sz="1300">
                <a:solidFill>
                  <a:srgbClr val="569CD6"/>
                </a:solidFill>
                <a:latin typeface="Consolas"/>
                <a:ea typeface="Consolas"/>
                <a:cs typeface="Consolas"/>
              </a:rPr>
              <a:t>public class </a:t>
            </a:r>
            <a:r>
              <a:rPr lang="de-AT" sz="1300">
                <a:solidFill>
                  <a:srgbClr val="4EC9B0"/>
                </a:solidFill>
                <a:latin typeface="Consolas"/>
                <a:ea typeface="Consolas"/>
                <a:cs typeface="Consolas"/>
              </a:rPr>
              <a:t>Wuerfel</a:t>
            </a:r>
            <a:r>
              <a:rPr lang="de-AT" sz="1300">
                <a:solidFill>
                  <a:srgbClr val="D4D4D4"/>
                </a:solidFill>
                <a:latin typeface="Consolas"/>
                <a:ea typeface="Consolas"/>
                <a:cs typeface="Consolas"/>
              </a:rPr>
              <a:t> : </a:t>
            </a:r>
            <a:r>
              <a:rPr lang="de-AT" sz="1300">
                <a:solidFill>
                  <a:srgbClr val="4EC9B0"/>
                </a:solidFill>
                <a:latin typeface="Consolas"/>
                <a:ea typeface="Consolas"/>
                <a:cs typeface="Consolas"/>
              </a:rPr>
              <a:t>Kugel</a:t>
            </a:r>
          </a:p>
          <a:p>
            <a:pPr marL="0" indent="0" algn="l">
              <a:lnSpc>
                <a:spcPct val="100000"/>
              </a:lnSpc>
              <a:buNone/>
            </a:pPr>
            <a:r>
              <a:rPr lang="de-AT" sz="1300">
                <a:solidFill>
                  <a:srgbClr val="D4D4D4"/>
                </a:solidFill>
                <a:latin typeface="Consolas"/>
                <a:ea typeface="Consolas"/>
                <a:cs typeface="Consolas"/>
              </a:rPr>
              <a:t>{</a:t>
            </a:r>
          </a:p>
          <a:p>
            <a:pPr marL="0" indent="0" algn="l">
              <a:lnSpc>
                <a:spcPct val="100000"/>
              </a:lnSpc>
              <a:buNone/>
            </a:pPr>
            <a:r>
              <a:rPr lang="de-AT" sz="1300">
                <a:solidFill>
                  <a:srgbClr val="569CD6"/>
                </a:solidFill>
                <a:latin typeface="Consolas"/>
                <a:ea typeface="Consolas"/>
                <a:cs typeface="Consolas"/>
              </a:rPr>
              <a:t>    private double </a:t>
            </a:r>
            <a:r>
              <a:rPr lang="de-AT" sz="1300">
                <a:solidFill>
                  <a:srgbClr val="D4D4D4"/>
                </a:solidFill>
                <a:latin typeface="Consolas"/>
                <a:ea typeface="Consolas"/>
                <a:cs typeface="Consolas"/>
              </a:rPr>
              <a:t>seitenlaenge;</a:t>
            </a:r>
          </a:p>
          <a:p>
            <a:pPr marL="0" indent="0" algn="l">
              <a:lnSpc>
                <a:spcPct val="100000"/>
              </a:lnSpc>
              <a:buNone/>
            </a:pPr>
            <a:endParaRPr lang="de-AT" sz="1300">
              <a:solidFill>
                <a:srgbClr val="D4D4D4"/>
              </a:solidFill>
              <a:latin typeface="Consolas"/>
              <a:ea typeface="Consolas"/>
              <a:cs typeface="Consolas"/>
            </a:endParaRPr>
          </a:p>
          <a:p>
            <a:pPr marL="0" indent="0" algn="l">
              <a:lnSpc>
                <a:spcPct val="100000"/>
              </a:lnSpc>
              <a:buNone/>
            </a:pPr>
            <a:r>
              <a:rPr lang="de-AT" sz="1300">
                <a:solidFill>
                  <a:srgbClr val="569CD6"/>
                </a:solidFill>
                <a:latin typeface="Consolas"/>
                <a:ea typeface="Consolas"/>
                <a:cs typeface="Consolas"/>
              </a:rPr>
              <a:t>    public override double </a:t>
            </a:r>
            <a:r>
              <a:rPr lang="de-AT" sz="1300">
                <a:solidFill>
                  <a:srgbClr val="D4D4D4"/>
                </a:solidFill>
                <a:latin typeface="Consolas"/>
                <a:ea typeface="Consolas"/>
                <a:cs typeface="Consolas"/>
              </a:rPr>
              <a:t>Volumen()</a:t>
            </a:r>
          </a:p>
          <a:p>
            <a:pPr marL="0" indent="0" algn="l">
              <a:lnSpc>
                <a:spcPct val="100000"/>
              </a:lnSpc>
              <a:buNone/>
            </a:pPr>
            <a:r>
              <a:rPr lang="de-AT" sz="1300">
                <a:solidFill>
                  <a:srgbClr val="D4D4D4"/>
                </a:solidFill>
                <a:latin typeface="Consolas"/>
                <a:ea typeface="Consolas"/>
                <a:cs typeface="Consolas"/>
              </a:rPr>
              <a:t>    {</a:t>
            </a:r>
          </a:p>
          <a:p>
            <a:pPr marL="0" indent="0" algn="l">
              <a:lnSpc>
                <a:spcPct val="100000"/>
              </a:lnSpc>
              <a:buNone/>
            </a:pPr>
            <a:r>
              <a:rPr lang="de-AT" sz="1300">
                <a:solidFill>
                  <a:srgbClr val="569CD6"/>
                </a:solidFill>
                <a:latin typeface="Consolas"/>
                <a:ea typeface="Consolas"/>
                <a:cs typeface="Consolas"/>
              </a:rPr>
              <a:t>        return </a:t>
            </a:r>
            <a:r>
              <a:rPr lang="de-AT" sz="1300">
                <a:solidFill>
                  <a:srgbClr val="D4D4D4"/>
                </a:solidFill>
                <a:latin typeface="Consolas"/>
                <a:ea typeface="Consolas"/>
                <a:cs typeface="Consolas"/>
              </a:rPr>
              <a:t>seitenlaenge * seitenlaenge * seitenlaenge;</a:t>
            </a:r>
          </a:p>
          <a:p>
            <a:pPr marL="0" indent="0" algn="l">
              <a:lnSpc>
                <a:spcPct val="100000"/>
              </a:lnSpc>
              <a:buNone/>
            </a:pPr>
            <a:r>
              <a:rPr lang="de-AT" sz="1300">
                <a:solidFill>
                  <a:srgbClr val="D4D4D4"/>
                </a:solidFill>
                <a:latin typeface="Consolas"/>
                <a:ea typeface="Consolas"/>
                <a:cs typeface="Consolas"/>
              </a:rPr>
              <a:t>    }</a:t>
            </a:r>
          </a:p>
          <a:p>
            <a:pPr marL="0" indent="0" algn="l">
              <a:lnSpc>
                <a:spcPct val="100000"/>
              </a:lnSpc>
              <a:buNone/>
            </a:pPr>
            <a:endParaRPr lang="de-AT" sz="1300">
              <a:solidFill>
                <a:srgbClr val="D4D4D4"/>
              </a:solidFill>
              <a:latin typeface="Consolas"/>
              <a:ea typeface="Consolas"/>
              <a:cs typeface="Consolas"/>
            </a:endParaRPr>
          </a:p>
          <a:p>
            <a:pPr marL="0" indent="0" algn="l">
              <a:lnSpc>
                <a:spcPct val="100000"/>
              </a:lnSpc>
              <a:buNone/>
            </a:pPr>
            <a:r>
              <a:rPr lang="de-AT" sz="1300">
                <a:solidFill>
                  <a:srgbClr val="569CD6"/>
                </a:solidFill>
                <a:latin typeface="Consolas"/>
                <a:ea typeface="Consolas"/>
                <a:cs typeface="Consolas"/>
              </a:rPr>
              <a:t>    public override double </a:t>
            </a:r>
            <a:r>
              <a:rPr lang="de-AT" sz="1300">
                <a:solidFill>
                  <a:srgbClr val="D4D4D4"/>
                </a:solidFill>
                <a:latin typeface="Consolas"/>
                <a:ea typeface="Consolas"/>
                <a:cs typeface="Consolas"/>
              </a:rPr>
              <a:t>Oberflaeche()</a:t>
            </a:r>
          </a:p>
          <a:p>
            <a:pPr marL="0" indent="0" algn="l">
              <a:lnSpc>
                <a:spcPct val="100000"/>
              </a:lnSpc>
              <a:buNone/>
            </a:pPr>
            <a:r>
              <a:rPr lang="de-AT" sz="1300">
                <a:solidFill>
                  <a:srgbClr val="D4D4D4"/>
                </a:solidFill>
                <a:latin typeface="Consolas"/>
                <a:ea typeface="Consolas"/>
                <a:cs typeface="Consolas"/>
              </a:rPr>
              <a:t>    {</a:t>
            </a:r>
          </a:p>
          <a:p>
            <a:pPr marL="0" indent="0" algn="l">
              <a:lnSpc>
                <a:spcPct val="100000"/>
              </a:lnSpc>
              <a:buNone/>
            </a:pPr>
            <a:r>
              <a:rPr lang="de-AT" sz="1300">
                <a:solidFill>
                  <a:srgbClr val="569CD6"/>
                </a:solidFill>
                <a:latin typeface="Consolas"/>
                <a:ea typeface="Consolas"/>
                <a:cs typeface="Consolas"/>
              </a:rPr>
              <a:t>        return </a:t>
            </a:r>
            <a:r>
              <a:rPr lang="de-AT" sz="1300">
                <a:solidFill>
                  <a:srgbClr val="D4D4D4"/>
                </a:solidFill>
                <a:latin typeface="Consolas"/>
                <a:ea typeface="Consolas"/>
                <a:cs typeface="Consolas"/>
              </a:rPr>
              <a:t>6 * seitenlaenge * seitenlaenge;</a:t>
            </a:r>
          </a:p>
          <a:p>
            <a:pPr marL="0" indent="0" algn="l">
              <a:lnSpc>
                <a:spcPct val="100000"/>
              </a:lnSpc>
              <a:buNone/>
            </a:pPr>
            <a:r>
              <a:rPr lang="de-AT" sz="1300">
                <a:solidFill>
                  <a:srgbClr val="D4D4D4"/>
                </a:solidFill>
                <a:latin typeface="Consolas"/>
                <a:ea typeface="Consolas"/>
                <a:cs typeface="Consolas"/>
              </a:rPr>
              <a:t>    }</a:t>
            </a:r>
          </a:p>
          <a:p>
            <a:pPr marL="0" indent="0" algn="l">
              <a:lnSpc>
                <a:spcPct val="100000"/>
              </a:lnSpc>
              <a:buNone/>
            </a:pPr>
            <a:r>
              <a:rPr lang="de-AT" sz="1300">
                <a:solidFill>
                  <a:srgbClr val="D4D4D4"/>
                </a:solidFill>
                <a:latin typeface="Consolas"/>
                <a:ea typeface="Consolas"/>
                <a:cs typeface="Consolas"/>
              </a:rPr>
              <a:t>}</a:t>
            </a:r>
          </a:p>
        </p:txBody>
      </p:sp>
      <p:sp>
        <p:nvSpPr>
          <p:cNvPr id="174" name="Text 174"/>
          <p:cNvSpPr txBox="1"/>
          <p:nvPr/>
        </p:nvSpPr>
        <p:spPr>
          <a:xfrm>
            <a:off x="457200" y="6537960"/>
            <a:ext cx="7315200" cy="274320"/>
          </a:xfrm>
          <a:prstGeom prst="rect">
            <a:avLst/>
          </a:prstGeom>
          <a:noFill/>
        </p:spPr>
        <p:txBody>
          <a:bodyPr wrap="square" lIns="0" tIns="0" rIns="0" bIns="0" rtlCol="0" anchor="ctr"/>
          <a:lstStyle/>
          <a:p>
            <a:pPr marL="0" indent="0" algn="l">
              <a:buNone/>
            </a:pPr>
            <a:r>
              <a:rPr lang="de-AT" sz="1000">
                <a:solidFill>
                  <a:srgbClr val="9A9AAE"/>
                </a:solidFill>
                <a:latin typeface="Calibri"/>
                <a:ea typeface="Calibri"/>
                <a:cs typeface="Calibri"/>
              </a:rPr>
              <a:t>Klassendiagramme · Kaltenbrunner &amp; Spring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50" name="!!bg"/>
          <p:cNvSpPr/>
          <p:nvPr/>
        </p:nvSpPr>
        <p:spPr>
          <a:xfrm>
            <a:off x="0" y="0"/>
            <a:ext cx="12188952" cy="6858000"/>
          </a:xfrm>
          <a:prstGeom prst="rect">
            <a:avLst/>
          </a:prstGeom>
          <a:solidFill>
            <a:srgbClr val="FFFFFF"/>
          </a:solidFill>
          <a:ln>
            <a:noFill/>
          </a:ln>
        </p:spPr>
        <p:txBody>
          <a:bodyPr/>
          <a:lstStyle/>
          <a:p>
            <a:endParaRPr lang="de-AT"/>
          </a:p>
        </p:txBody>
      </p:sp>
      <p:sp>
        <p:nvSpPr>
          <p:cNvPr id="3" name="!!title"/>
          <p:cNvSpPr txBox="1"/>
          <p:nvPr/>
        </p:nvSpPr>
        <p:spPr>
          <a:xfrm>
            <a:off x="548640" y="411480"/>
            <a:ext cx="10515600" cy="731520"/>
          </a:xfrm>
          <a:prstGeom prst="rect">
            <a:avLst/>
          </a:prstGeom>
          <a:noFill/>
          <a:ln/>
        </p:spPr>
        <p:txBody>
          <a:bodyPr wrap="square" lIns="0" tIns="0" rIns="0" bIns="0" rtlCol="0" anchor="ctr"/>
          <a:lstStyle/>
          <a:p>
            <a:pPr marL="0" indent="0">
              <a:buNone/>
            </a:pPr>
            <a:r>
              <a:rPr lang="en-US" sz="3400" b="1" dirty="0">
                <a:latin typeface="Calibri" pitchFamily="34" charset="0"/>
                <a:ea typeface="Calibri" pitchFamily="34" charset="-122"/>
                <a:cs typeface="Calibri" pitchFamily="34" charset="-120"/>
              </a:rPr>
              <a:t>Auflösung</a:t>
            </a:r>
            <a:endParaRPr lang="en-US" sz="3400" dirty="0"/>
          </a:p>
        </p:txBody>
      </p:sp>
      <p:sp>
        <p:nvSpPr>
          <p:cNvPr id="4" name="!!codebox"/>
          <p:cNvSpPr/>
          <p:nvPr/>
        </p:nvSpPr>
        <p:spPr>
          <a:xfrm>
            <a:off x="822960" y="1371600"/>
            <a:ext cx="10515600" cy="914400"/>
          </a:xfrm>
          <a:prstGeom prst="roundRect">
            <a:avLst>
              <a:gd name="adj" fmla="val 8000"/>
            </a:avLst>
          </a:prstGeom>
          <a:solidFill>
            <a:srgbClr val="3A1F24"/>
          </a:solidFill>
          <a:ln w="19050">
            <a:solidFill>
              <a:srgbClr val="F14C4C"/>
            </a:solidFill>
            <a:prstDash val="solid"/>
          </a:ln>
        </p:spPr>
        <p:txBody>
          <a:bodyPr/>
          <a:lstStyle/>
          <a:p>
            <a:endParaRPr lang="de-AT"/>
          </a:p>
        </p:txBody>
      </p:sp>
      <p:sp>
        <p:nvSpPr>
          <p:cNvPr id="5" name="Text 3"/>
          <p:cNvSpPr txBox="1"/>
          <p:nvPr/>
        </p:nvSpPr>
        <p:spPr>
          <a:xfrm>
            <a:off x="1051560" y="1463040"/>
            <a:ext cx="1828800" cy="365760"/>
          </a:xfrm>
          <a:prstGeom prst="rect">
            <a:avLst/>
          </a:prstGeom>
          <a:noFill/>
          <a:ln/>
        </p:spPr>
        <p:txBody>
          <a:bodyPr wrap="square" lIns="0" tIns="0" rIns="0" bIns="0" rtlCol="0" anchor="ctr"/>
          <a:lstStyle/>
          <a:p>
            <a:pPr marL="0" indent="0">
              <a:buNone/>
            </a:pPr>
            <a:r>
              <a:rPr lang="en-US" sz="1300" b="1" dirty="0">
                <a:solidFill>
                  <a:srgbClr val="F14C4C"/>
                </a:solidFill>
                <a:latin typeface="Calibri" pitchFamily="34" charset="0"/>
                <a:ea typeface="Calibri" pitchFamily="34" charset="-122"/>
                <a:cs typeface="Calibri" pitchFamily="34" charset="-120"/>
              </a:rPr>
              <a:t>✗  falsch:</a:t>
            </a:r>
            <a:endParaRPr lang="en-US" sz="1300" dirty="0"/>
          </a:p>
        </p:txBody>
      </p:sp>
      <p:sp>
        <p:nvSpPr>
          <p:cNvPr id="6" name="Text 4"/>
          <p:cNvSpPr txBox="1"/>
          <p:nvPr/>
        </p:nvSpPr>
        <p:spPr>
          <a:xfrm>
            <a:off x="1051560" y="1828800"/>
            <a:ext cx="10058400" cy="365760"/>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public class Wuerfel : Kugel</a:t>
            </a:r>
            <a:endParaRPr lang="en-US" sz="1500" dirty="0"/>
          </a:p>
        </p:txBody>
      </p:sp>
      <p:sp>
        <p:nvSpPr>
          <p:cNvPr id="7" name="Shape 5"/>
          <p:cNvSpPr/>
          <p:nvPr/>
        </p:nvSpPr>
        <p:spPr>
          <a:xfrm>
            <a:off x="822960" y="2468880"/>
            <a:ext cx="10515600" cy="914400"/>
          </a:xfrm>
          <a:prstGeom prst="roundRect">
            <a:avLst>
              <a:gd name="adj" fmla="val 8000"/>
            </a:avLst>
          </a:prstGeom>
          <a:solidFill>
            <a:srgbClr val="1E3A24"/>
          </a:solidFill>
          <a:ln w="19050">
            <a:solidFill>
              <a:srgbClr val="6A9955"/>
            </a:solidFill>
            <a:prstDash val="solid"/>
          </a:ln>
        </p:spPr>
        <p:txBody>
          <a:bodyPr/>
          <a:lstStyle/>
          <a:p>
            <a:endParaRPr lang="de-AT"/>
          </a:p>
        </p:txBody>
      </p:sp>
      <p:sp>
        <p:nvSpPr>
          <p:cNvPr id="8" name="Text 6"/>
          <p:cNvSpPr txBox="1"/>
          <p:nvPr/>
        </p:nvSpPr>
        <p:spPr>
          <a:xfrm>
            <a:off x="1051560" y="2560320"/>
            <a:ext cx="1828800" cy="365760"/>
          </a:xfrm>
          <a:prstGeom prst="rect">
            <a:avLst/>
          </a:prstGeom>
          <a:noFill/>
          <a:ln/>
        </p:spPr>
        <p:txBody>
          <a:bodyPr wrap="square" lIns="0" tIns="0" rIns="0" bIns="0" rtlCol="0" anchor="ctr"/>
          <a:lstStyle/>
          <a:p>
            <a:pPr marL="0" indent="0">
              <a:buNone/>
            </a:pPr>
            <a:r>
              <a:rPr lang="en-US" sz="1300" b="1" dirty="0">
                <a:solidFill>
                  <a:srgbClr val="9CD67A"/>
                </a:solidFill>
                <a:latin typeface="Calibri" pitchFamily="34" charset="0"/>
                <a:ea typeface="Calibri" pitchFamily="34" charset="-122"/>
                <a:cs typeface="Calibri" pitchFamily="34" charset="-120"/>
              </a:rPr>
              <a:t>✓  richtig:</a:t>
            </a:r>
            <a:endParaRPr lang="en-US" sz="1300" dirty="0"/>
          </a:p>
        </p:txBody>
      </p:sp>
      <p:sp>
        <p:nvSpPr>
          <p:cNvPr id="9" name="Text 7"/>
          <p:cNvSpPr txBox="1"/>
          <p:nvPr/>
        </p:nvSpPr>
        <p:spPr>
          <a:xfrm>
            <a:off x="1051560" y="2926080"/>
            <a:ext cx="10058400" cy="365760"/>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public class Wuerfel : Figur</a:t>
            </a:r>
            <a:endParaRPr lang="en-US" sz="1500" dirty="0"/>
          </a:p>
        </p:txBody>
      </p:sp>
      <p:sp>
        <p:nvSpPr>
          <p:cNvPr id="10" name="Shape 8"/>
          <p:cNvSpPr/>
          <p:nvPr/>
        </p:nvSpPr>
        <p:spPr>
          <a:xfrm>
            <a:off x="822960" y="3794760"/>
            <a:ext cx="146304" cy="146304"/>
          </a:xfrm>
          <a:prstGeom prst="rect">
            <a:avLst/>
          </a:prstGeom>
          <a:solidFill>
            <a:srgbClr val="4EC9B0"/>
          </a:solidFill>
          <a:ln/>
        </p:spPr>
        <p:txBody>
          <a:bodyPr/>
          <a:lstStyle/>
          <a:p>
            <a:endParaRPr lang="de-AT"/>
          </a:p>
        </p:txBody>
      </p:sp>
      <p:sp>
        <p:nvSpPr>
          <p:cNvPr id="11" name="Text 9"/>
          <p:cNvSpPr txBox="1"/>
          <p:nvPr/>
        </p:nvSpPr>
        <p:spPr>
          <a:xfrm>
            <a:off x="1188720" y="3611880"/>
            <a:ext cx="9875520" cy="457200"/>
          </a:xfrm>
          <a:prstGeom prst="rect">
            <a:avLst/>
          </a:prstGeom>
          <a:noFill/>
          <a:ln/>
        </p:spPr>
        <p:txBody>
          <a:bodyPr wrap="square" lIns="0" tIns="0" rIns="0" bIns="0" rtlCol="0" anchor="ctr"/>
          <a:lstStyle/>
          <a:p>
            <a:pPr marL="0" indent="0">
              <a:buNone/>
            </a:pPr>
            <a:r>
              <a:rPr lang="de-AT" sz="1550"/>
              <a:t>Diagramm zeigt: Wuerfel erbt von Figur — nicht von Kugel</a:t>
            </a:r>
          </a:p>
        </p:txBody>
      </p:sp>
      <p:sp>
        <p:nvSpPr>
          <p:cNvPr id="12" name="Shape 10"/>
          <p:cNvSpPr/>
          <p:nvPr/>
        </p:nvSpPr>
        <p:spPr>
          <a:xfrm>
            <a:off x="822960" y="4325112"/>
            <a:ext cx="146304" cy="146304"/>
          </a:xfrm>
          <a:prstGeom prst="rect">
            <a:avLst/>
          </a:prstGeom>
          <a:solidFill>
            <a:srgbClr val="4EC9B0"/>
          </a:solidFill>
          <a:ln/>
        </p:spPr>
        <p:txBody>
          <a:bodyPr/>
          <a:lstStyle/>
          <a:p>
            <a:endParaRPr lang="de-AT"/>
          </a:p>
        </p:txBody>
      </p:sp>
      <p:sp>
        <p:nvSpPr>
          <p:cNvPr id="13" name="Text 11"/>
          <p:cNvSpPr txBox="1"/>
          <p:nvPr/>
        </p:nvSpPr>
        <p:spPr>
          <a:xfrm>
            <a:off x="1188720" y="4142232"/>
            <a:ext cx="9875520" cy="457200"/>
          </a:xfrm>
          <a:prstGeom prst="rect">
            <a:avLst/>
          </a:prstGeom>
          <a:noFill/>
          <a:ln/>
        </p:spPr>
        <p:txBody>
          <a:bodyPr wrap="square" lIns="0" tIns="0" rIns="0" bIns="0" rtlCol="0" anchor="ctr"/>
          <a:lstStyle/>
          <a:p>
            <a:pPr marL="0" indent="0">
              <a:buNone/>
            </a:pPr>
            <a:r>
              <a:rPr lang="de-AT" sz="1550"/>
              <a:t>Wuerfel : Kugel heißt „ein Wuerfel ist eine Kugel“ — inhaltlich falsch</a:t>
            </a:r>
          </a:p>
        </p:txBody>
      </p:sp>
      <p:sp>
        <p:nvSpPr>
          <p:cNvPr id="14" name="Shape 12"/>
          <p:cNvSpPr/>
          <p:nvPr/>
        </p:nvSpPr>
        <p:spPr>
          <a:xfrm>
            <a:off x="822960" y="4855464"/>
            <a:ext cx="146304" cy="146304"/>
          </a:xfrm>
          <a:prstGeom prst="rect">
            <a:avLst/>
          </a:prstGeom>
          <a:solidFill>
            <a:srgbClr val="4EC9B0"/>
          </a:solidFill>
          <a:ln/>
        </p:spPr>
        <p:txBody>
          <a:bodyPr/>
          <a:lstStyle/>
          <a:p>
            <a:endParaRPr lang="de-AT"/>
          </a:p>
        </p:txBody>
      </p:sp>
      <p:sp>
        <p:nvSpPr>
          <p:cNvPr id="15" name="Text 13"/>
          <p:cNvSpPr txBox="1"/>
          <p:nvPr/>
        </p:nvSpPr>
        <p:spPr>
          <a:xfrm>
            <a:off x="1188720" y="4672584"/>
            <a:ext cx="9875520" cy="457200"/>
          </a:xfrm>
          <a:prstGeom prst="rect">
            <a:avLst/>
          </a:prstGeom>
          <a:noFill/>
          <a:ln/>
        </p:spPr>
        <p:txBody>
          <a:bodyPr wrap="square" lIns="0" tIns="0" rIns="0" bIns="0" rtlCol="0" anchor="ctr"/>
          <a:lstStyle/>
          <a:p>
            <a:pPr marL="0" indent="0">
              <a:buNone/>
            </a:pPr>
            <a:r>
              <a:rPr lang="de-AT" sz="1550"/>
              <a:t>Überall, wo eine Kugel erwartet wird, könnte man einen Wuerfel übergeben → falsches Verhalten</a:t>
            </a:r>
          </a:p>
        </p:txBody>
      </p:sp>
      <p:sp>
        <p:nvSpPr>
          <p:cNvPr id="16" name="Shape 14"/>
          <p:cNvSpPr/>
          <p:nvPr/>
        </p:nvSpPr>
        <p:spPr>
          <a:xfrm>
            <a:off x="822960" y="5385816"/>
            <a:ext cx="146304" cy="146304"/>
          </a:xfrm>
          <a:prstGeom prst="rect">
            <a:avLst/>
          </a:prstGeom>
          <a:solidFill>
            <a:srgbClr val="4EC9B0"/>
          </a:solidFill>
          <a:ln/>
        </p:spPr>
        <p:txBody>
          <a:bodyPr/>
          <a:lstStyle/>
          <a:p>
            <a:endParaRPr lang="de-AT"/>
          </a:p>
        </p:txBody>
      </p:sp>
      <p:sp>
        <p:nvSpPr>
          <p:cNvPr id="17" name="Text 15"/>
          <p:cNvSpPr txBox="1"/>
          <p:nvPr/>
        </p:nvSpPr>
        <p:spPr>
          <a:xfrm>
            <a:off x="1188720" y="5202936"/>
            <a:ext cx="9875520" cy="457200"/>
          </a:xfrm>
          <a:prstGeom prst="rect">
            <a:avLst/>
          </a:prstGeom>
          <a:noFill/>
          <a:ln/>
        </p:spPr>
        <p:txBody>
          <a:bodyPr wrap="square" lIns="0" tIns="0" rIns="0" bIns="0" rtlCol="0" anchor="ctr"/>
          <a:lstStyle/>
          <a:p>
            <a:pPr marL="0" indent="0">
              <a:buNone/>
            </a:pPr>
            <a:r>
              <a:rPr lang="de-AT" sz="1550"/>
              <a:t>Code kompiliert und rechnet richtig — trotzdem falsches Design</a:t>
            </a:r>
          </a:p>
        </p:txBody>
      </p:sp>
      <p:sp>
        <p:nvSpPr>
          <p:cNvPr id="18" name="Text 16"/>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1000" dirty="0">
                <a:solidFill>
                  <a:srgbClr val="9A9AAE"/>
                </a:solidFill>
                <a:latin typeface="Calibri" pitchFamily="34" charset="0"/>
                <a:ea typeface="Calibri" pitchFamily="34" charset="-122"/>
                <a:cs typeface="Calibri" pitchFamily="34" charset="-120"/>
              </a:rPr>
              <a:t>Klassendiagramme · Kaltenbrunner &amp; Spring</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g"/>
          <p:cNvSpPr/>
          <p:nvPr/>
        </p:nvSpPr>
        <p:spPr>
          <a:xfrm>
            <a:off x="0" y="45720"/>
            <a:ext cx="12188952" cy="6858000"/>
          </a:xfrm>
          <a:prstGeom prst="rect">
            <a:avLst/>
          </a:prstGeom>
          <a:solidFill>
            <a:srgbClr val="1E1E2E"/>
          </a:solidFill>
          <a:ln/>
        </p:spPr>
        <p:txBody>
          <a:bodyPr/>
          <a:lstStyle/>
          <a:p>
            <a:endParaRPr lang="de-AT"/>
          </a:p>
        </p:txBody>
      </p:sp>
      <p:sp>
        <p:nvSpPr>
          <p:cNvPr id="3" name="!!title"/>
          <p:cNvSpPr txBox="1"/>
          <p:nvPr/>
        </p:nvSpPr>
        <p:spPr>
          <a:xfrm>
            <a:off x="822960" y="2468880"/>
            <a:ext cx="10698480" cy="1005840"/>
          </a:xfrm>
          <a:prstGeom prst="rect">
            <a:avLst/>
          </a:prstGeom>
          <a:noFill/>
          <a:ln/>
        </p:spPr>
        <p:txBody>
          <a:bodyPr wrap="square" lIns="0" tIns="0" rIns="0" bIns="0" rtlCol="0" anchor="ctr"/>
          <a:lstStyle/>
          <a:p>
            <a:pPr marL="0" indent="0">
              <a:buNone/>
            </a:pPr>
            <a:r>
              <a:rPr lang="en-US" sz="4000" b="1" dirty="0" err="1">
                <a:solidFill>
                  <a:srgbClr val="FFFFFF"/>
                </a:solidFill>
                <a:latin typeface="Calibri" pitchFamily="34" charset="0"/>
                <a:ea typeface="Calibri" pitchFamily="34" charset="-122"/>
                <a:cs typeface="Calibri" pitchFamily="34" charset="-120"/>
              </a:rPr>
              <a:t>Vielen Dank für eure Aufmerksamkeit!</a:t>
            </a:r>
            <a:endParaRPr lang="en-US" sz="4000" dirty="0"/>
          </a:p>
        </p:txBody>
      </p:sp>
      <p:sp>
        <p:nvSpPr>
          <p:cNvPr id="4" name="Text 2"/>
          <p:cNvSpPr txBox="1"/>
          <p:nvPr/>
        </p:nvSpPr>
        <p:spPr>
          <a:xfrm>
            <a:off x="822960" y="3383280"/>
            <a:ext cx="8229600" cy="502920"/>
          </a:xfrm>
          <a:prstGeom prst="rect">
            <a:avLst/>
          </a:prstGeom>
          <a:noFill/>
          <a:ln/>
        </p:spPr>
        <p:txBody>
          <a:bodyPr wrap="square" lIns="0" tIns="0" rIns="0" bIns="0" rtlCol="0" anchor="ctr"/>
          <a:lstStyle/>
          <a:p>
            <a:endParaRPr lang="de-AT" sz="2000" i="1" dirty="0">
              <a:solidFill>
                <a:srgbClr val="4EC9B0"/>
              </a:solidFill>
              <a:ea typeface="Calibri"/>
              <a:cs typeface="Calibri"/>
            </a:endParaRPr>
          </a:p>
        </p:txBody>
      </p:sp>
      <p:sp>
        <p:nvSpPr>
          <p:cNvPr id="5" name="Shape 3"/>
          <p:cNvSpPr/>
          <p:nvPr/>
        </p:nvSpPr>
        <p:spPr>
          <a:xfrm>
            <a:off x="822959" y="4069080"/>
            <a:ext cx="2795311" cy="0"/>
          </a:xfrm>
          <a:prstGeom prst="line">
            <a:avLst/>
          </a:prstGeom>
          <a:noFill/>
          <a:ln w="25400">
            <a:solidFill>
              <a:srgbClr val="C586C0"/>
            </a:solidFill>
            <a:prstDash val="solid"/>
          </a:ln>
        </p:spPr>
        <p:txBody>
          <a:bodyPr/>
          <a:lstStyle/>
          <a:p>
            <a:endParaRPr lang="de-AT"/>
          </a:p>
        </p:txBody>
      </p:sp>
      <p:sp>
        <p:nvSpPr>
          <p:cNvPr id="6" name="Text 4"/>
          <p:cNvSpPr txBox="1"/>
          <p:nvPr/>
        </p:nvSpPr>
        <p:spPr>
          <a:xfrm>
            <a:off x="822960" y="4251960"/>
            <a:ext cx="731520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Kaltenbrunner  &amp;  Spring   ·   SEW</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986</Words>
  <Application>Microsoft Office PowerPoint</Application>
  <PresentationFormat>Breitbild</PresentationFormat>
  <Paragraphs>151</Paragraphs>
  <Slides>10</Slides>
  <Notes>9</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Arial</vt:lpstr>
      <vt:lpstr>Calibri</vt:lpstr>
      <vt:lpstr>Consolas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Alexander Kaltenbrunner</cp:lastModifiedBy>
  <cp:revision>5</cp:revision>
  <dcterms:created xsi:type="dcterms:W3CDTF">2026-09-11T06:04:06Z</dcterms:created>
  <dcterms:modified xsi:type="dcterms:W3CDTF">2026-09-17T13:06:00Z</dcterms:modified>
</cp:coreProperties>
</file>