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8" r:id="rId6"/>
    <p:sldId id="259" r:id="rId7"/>
    <p:sldId id="267" r:id="rId8"/>
    <p:sldId id="257" r:id="rId9"/>
    <p:sldId id="268" r:id="rId10"/>
    <p:sldId id="269" r:id="rId11"/>
    <p:sldId id="260" r:id="rId12"/>
    <p:sldId id="264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286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12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93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20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28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16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lter/AppData/Local/Temp/claude/C--temp-claude/e8001596-bfeb-417d-9f6a-c7e4b30f1327/scratchpad/ref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916" y="1143000"/>
            <a:ext cx="2298160" cy="1728216"/>
          </a:xfrm>
          <a:prstGeom prst="rect">
            <a:avLst/>
          </a:prstGeom>
        </p:spPr>
      </p:pic>
      <p:pic>
        <p:nvPicPr>
          <p:cNvPr id="3" name="Image 1" descr="C:/Users/alter/AppData/Local/Temp/claude/C--temp-claude/e8001596-bfeb-417d-9f6a-c7e4b30f1327/scratchpad/ref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143000"/>
            <a:ext cx="2414016" cy="172821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12648" y="315468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 technische Bundeslehr- und Versuchsanstalt Waidhofen an der Ybbs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612648" y="343814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 – 4AHIT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612648" y="4059936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Übung: VerlinkteFigurListe erweitern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612648" y="4910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AusgabeAllerFiguren, Push, Pop, InsertAt, </a:t>
            </a: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Remove, Umdrehen, VertauscheBenachbarte </a:t>
            </a:r>
            <a:r>
              <a:rPr lang="en-US" sz="17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Anhaengen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621792" y="155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 – 4AHIT | Verlinkte Listen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0789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fertigen Collections (</a:t>
            </a:r>
            <a:r>
              <a:rPr lang="en-US" sz="16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List&lt;T&gt;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Stack&lt;T&gt;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LinkedList&lt;T&gt;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…) und 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Arrays verwenden.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19933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Reihenfolge wird 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ausschließlich durch Umhängen der </a:t>
            </a:r>
            <a:r>
              <a:rPr lang="en-US" sz="16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-Referenzen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verändert. Keine Beschreibungen oder Radien kopieren, keine neuen Figur-Objekte erzeugen.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9077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muss nach jeder Operation stimmen.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8221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Operation darf abstürzen – auch nicht bei leerer Liste, bei nur einem Element oder bei einem ungültigen Index.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31520" y="489204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Tipp: Zeichne dir vor dem Programmieren jede Operation auf Papier auf (Kästchen und Pfeile). Überlege, welche Pfeile in welcher Reihenfolge umgehängt werden müssen, damit keine Figur „verloren geht“.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621792" y="155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Überblick: Diese Methoden sind zu programmieren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 – 4AHIT | Verlinkte Listen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166228"/>
              </p:ext>
            </p:extLst>
          </p:nvPr>
        </p:nvGraphicFramePr>
        <p:xfrm>
          <a:off x="731520" y="1051560"/>
          <a:ext cx="10725912" cy="462686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450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 Figur GetAt(int index)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liefert</a:t>
                      </a: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die Figur an Position index (0-basiert)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4509F"/>
                          </a:solidFill>
                          <a:latin typeface="Calibri" panose="020F0502020204030204" pitchFamily="34" charset="0"/>
                          <a:ea typeface="Calibri" charset="0"/>
                          <a:cs typeface="Calibri" charset="0"/>
                        </a:rPr>
                        <a:t>1</a:t>
                      </a:r>
                      <a:endParaRPr lang="en-US" sz="1500" b="1" dirty="0">
                        <a:solidFill>
                          <a:srgbClr val="14509F"/>
                        </a:solidFill>
                        <a:latin typeface="Calibri" panose="020F0502020204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ea typeface="Courier New" charset="0"/>
                          <a:cs typeface="Courier New" charset="0"/>
                        </a:rPr>
                        <a:t>public void Add(Figur fig)</a:t>
                      </a:r>
                      <a:endParaRPr lang="en-US" sz="125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5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charset="0"/>
                          <a:cs typeface="Calibri" charset="0"/>
                        </a:rPr>
                        <a:t>hängt eine Figur immer am Ende der Liste an</a:t>
                      </a:r>
                      <a:endParaRPr lang="en-US" sz="150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4215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4509F"/>
                          </a:solidFill>
                          <a:latin typeface="Calibri" panose="020F0502020204030204" pitchFamily="34" charset="0"/>
                          <a:ea typeface="Calibri" charset="0"/>
                          <a:cs typeface="Calibri" charset="0"/>
                        </a:rPr>
                        <a:t>2</a:t>
                      </a:r>
                      <a:endParaRPr lang="en-US" sz="1500" b="1" dirty="0">
                        <a:solidFill>
                          <a:srgbClr val="14509F"/>
                        </a:solidFill>
                        <a:latin typeface="Calibri" panose="020F0502020204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ea typeface="Courier New" charset="0"/>
                          <a:cs typeface="Courier New" charset="0"/>
                        </a:rPr>
                        <a:t>public void AusgabeAllerFiguren()</a:t>
                      </a:r>
                      <a:endParaRPr lang="en-US" sz="125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5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charset="0"/>
                          <a:cs typeface="Calibri" charset="0"/>
                        </a:rPr>
                        <a:t>gibt alle Figuren der Reihe nach auf der Konsole aus</a:t>
                      </a:r>
                      <a:endParaRPr lang="en-US" sz="150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54521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450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 void Push(Figur fig)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fügt eine Figur vorne ein (Stapel-Prinzip, LIFO)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450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 Figur Pop()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entfernt die vorderste Figur und liefert sie zurück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450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 void InsertAt(int index, Figur fig)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fügt eine Figur an Position index ein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450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 void Remove(int index)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löscht die Figur an Position index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450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 void Umdrehen()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kehrt die Reihenfolge der gesamten Liste 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450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 void VertauscheBenachbarte()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vertauscht je zwei benachbarte Figuren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450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 void Anhaengen(VerlinkteFigurListe andere)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hängt eine zweite Liste hinten 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Aufgaben bauen aufeinander auf – am besten in dieser Reihenfolge lösen.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621792" y="155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0 – 2: GetAt, Add, AusgabeAllerFiguren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 – 4AHIT | Verlinkte Listen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429000" cy="5120640"/>
          </a:xfrm>
          <a:prstGeom prst="roundRect">
            <a:avLst>
              <a:gd name="adj" fmla="val 2667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960120" y="1252728"/>
            <a:ext cx="420624" cy="420624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96012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2527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1828800"/>
            <a:ext cx="2971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1051560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Figur GetAt(int index)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77440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77440"/>
            <a:ext cx="2651760" cy="75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Liefert die Figur an der Indexposition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(0-basiert).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01543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01543"/>
            <a:ext cx="2651760" cy="75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Hilfsmethode – wird in mehreren der folgenden Aufgaben gebraucht.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11708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40969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4409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 txBox="1"/>
          <p:nvPr/>
        </p:nvSpPr>
        <p:spPr>
          <a:xfrm>
            <a:off x="1920240" y="4409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95728" y="4409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 txBox="1"/>
          <p:nvPr/>
        </p:nvSpPr>
        <p:spPr>
          <a:xfrm>
            <a:off x="2395728" y="4409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71216" y="4409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 txBox="1"/>
          <p:nvPr/>
        </p:nvSpPr>
        <p:spPr>
          <a:xfrm>
            <a:off x="2871216" y="4409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46704" y="4409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 txBox="1"/>
          <p:nvPr/>
        </p:nvSpPr>
        <p:spPr>
          <a:xfrm>
            <a:off x="3346704" y="4409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488518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GetAt(2):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920240" y="48851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651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 txBox="1"/>
          <p:nvPr/>
        </p:nvSpPr>
        <p:spPr>
          <a:xfrm>
            <a:off x="1920240" y="48851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61688" y="1051560"/>
            <a:ext cx="3429000" cy="5120640"/>
          </a:xfrm>
          <a:prstGeom prst="roundRect">
            <a:avLst>
              <a:gd name="adj" fmla="val 2667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Shape 28"/>
          <p:cNvSpPr/>
          <p:nvPr/>
        </p:nvSpPr>
        <p:spPr>
          <a:xfrm>
            <a:off x="4590288" y="1252728"/>
            <a:ext cx="420624" cy="420624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 txBox="1"/>
          <p:nvPr/>
        </p:nvSpPr>
        <p:spPr>
          <a:xfrm>
            <a:off x="4590288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138928" y="12527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590288" y="1828800"/>
            <a:ext cx="2971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 txBox="1"/>
          <p:nvPr/>
        </p:nvSpPr>
        <p:spPr>
          <a:xfrm>
            <a:off x="4681728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Add(Figur fig)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636008" y="2377440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864608" y="2377440"/>
            <a:ext cx="26517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Hängt die Figur immer am Ende der Liste an.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4636008" y="2969514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864608" y="2969514"/>
            <a:ext cx="26517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Leere Liste → die Figur wird zur ersten Figur (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4636008" y="3561588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864608" y="3561588"/>
            <a:ext cx="26517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neue Figur ist die letzte – ihr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424510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636008" y="453771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550408" y="45377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4" name="Text 42"/>
          <p:cNvSpPr txBox="1"/>
          <p:nvPr/>
        </p:nvSpPr>
        <p:spPr>
          <a:xfrm>
            <a:off x="5550408" y="45377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025896" y="45377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6" name="Text 44"/>
          <p:cNvSpPr txBox="1"/>
          <p:nvPr/>
        </p:nvSpPr>
        <p:spPr>
          <a:xfrm>
            <a:off x="6025896" y="45377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501384" y="45377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8" name="Text 46"/>
          <p:cNvSpPr txBox="1"/>
          <p:nvPr/>
        </p:nvSpPr>
        <p:spPr>
          <a:xfrm>
            <a:off x="6501384" y="45377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4636008" y="501319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Add(X):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550408" y="501319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1" name="Text 49"/>
          <p:cNvSpPr txBox="1"/>
          <p:nvPr/>
        </p:nvSpPr>
        <p:spPr>
          <a:xfrm>
            <a:off x="5550408" y="5013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025896" y="501319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3" name="Text 51"/>
          <p:cNvSpPr txBox="1"/>
          <p:nvPr/>
        </p:nvSpPr>
        <p:spPr>
          <a:xfrm>
            <a:off x="6025896" y="5013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501384" y="501319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5" name="Text 53"/>
          <p:cNvSpPr txBox="1"/>
          <p:nvPr/>
        </p:nvSpPr>
        <p:spPr>
          <a:xfrm>
            <a:off x="6501384" y="5013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976872" y="501319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DE9D9"/>
          </a:solidFill>
          <a:ln w="16510">
            <a:solidFill>
              <a:srgbClr val="E36C0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7" name="Text 55"/>
          <p:cNvSpPr txBox="1"/>
          <p:nvPr/>
        </p:nvSpPr>
        <p:spPr>
          <a:xfrm>
            <a:off x="6976872" y="5013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991856" y="1051560"/>
            <a:ext cx="3429000" cy="5120640"/>
          </a:xfrm>
          <a:prstGeom prst="roundRect">
            <a:avLst>
              <a:gd name="adj" fmla="val 2667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9" name="Shape 57"/>
          <p:cNvSpPr/>
          <p:nvPr/>
        </p:nvSpPr>
        <p:spPr>
          <a:xfrm>
            <a:off x="8220456" y="1252728"/>
            <a:ext cx="420624" cy="420624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0" name="Text 58"/>
          <p:cNvSpPr txBox="1"/>
          <p:nvPr/>
        </p:nvSpPr>
        <p:spPr>
          <a:xfrm>
            <a:off x="8220456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8769096" y="12527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AusgabeAllerFiguren</a:t>
            </a:r>
            <a:endParaRPr lang="en-US" sz="2000" dirty="0"/>
          </a:p>
        </p:txBody>
      </p:sp>
      <p:sp>
        <p:nvSpPr>
          <p:cNvPr id="62" name="Shape 60"/>
          <p:cNvSpPr/>
          <p:nvPr/>
        </p:nvSpPr>
        <p:spPr>
          <a:xfrm>
            <a:off x="8220456" y="1828800"/>
            <a:ext cx="2971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3" name="Text 61"/>
          <p:cNvSpPr txBox="1"/>
          <p:nvPr/>
        </p:nvSpPr>
        <p:spPr>
          <a:xfrm>
            <a:off x="8311896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AusgabeAllerFiguren()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8266176" y="2377440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8494776" y="2377440"/>
            <a:ext cx="2651760" cy="75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alle Figuren der Reihe nach auf der Konsole aus – von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66" name="Text 64"/>
          <p:cNvSpPr txBox="1"/>
          <p:nvPr/>
        </p:nvSpPr>
        <p:spPr>
          <a:xfrm>
            <a:off x="8266176" y="3201543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8494776" y="3201543"/>
            <a:ext cx="26517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Figur: Beschreibung, Oberfläche und Volumen.</a:t>
            </a:r>
            <a:endParaRPr lang="en-US" sz="1450" dirty="0"/>
          </a:p>
        </p:txBody>
      </p:sp>
      <p:sp>
        <p:nvSpPr>
          <p:cNvPr id="68" name="Text 66"/>
          <p:cNvSpPr txBox="1"/>
          <p:nvPr/>
        </p:nvSpPr>
        <p:spPr>
          <a:xfrm>
            <a:off x="8266176" y="3793617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8494776" y="3793617"/>
            <a:ext cx="26517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Leere Liste → keine Ausgabe, kein Absturz.</a:t>
            </a:r>
            <a:endParaRPr lang="en-US" sz="1450" dirty="0"/>
          </a:p>
        </p:txBody>
      </p:sp>
      <p:sp>
        <p:nvSpPr>
          <p:cNvPr id="70" name="Text 68"/>
          <p:cNvSpPr txBox="1"/>
          <p:nvPr/>
        </p:nvSpPr>
        <p:spPr>
          <a:xfrm>
            <a:off x="8266176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266176" y="4681728"/>
            <a:ext cx="2880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2" name="Text 70"/>
          <p:cNvSpPr txBox="1"/>
          <p:nvPr/>
        </p:nvSpPr>
        <p:spPr>
          <a:xfrm>
            <a:off x="8375904" y="47548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 O = 1256,64  V = 4188,79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 O = 54,00    V = 27,00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  O = 804,25   V = 2144,66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90590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621792" y="155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3 – 4: vorne einfügen und entfernen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 – 4AHIT | Verlinkte Listen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5257800" cy="5120640"/>
          </a:xfrm>
          <a:prstGeom prst="roundRect">
            <a:avLst>
              <a:gd name="adj" fmla="val 1786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960120" y="1252728"/>
            <a:ext cx="420624" cy="420624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96012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25272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1828800"/>
            <a:ext cx="4800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105156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Push(Figur fig)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77440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77440"/>
            <a:ext cx="448056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Fügt die Figur vorne in die Liste ein.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37485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737485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Stapel-Prinzip (LIFO): zuletzt eingefügt, zuerst wieder heraus.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420999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713607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371360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 txBox="1"/>
          <p:nvPr/>
        </p:nvSpPr>
        <p:spPr>
          <a:xfrm>
            <a:off x="1920240" y="37136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95728" y="371360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 txBox="1"/>
          <p:nvPr/>
        </p:nvSpPr>
        <p:spPr>
          <a:xfrm>
            <a:off x="2395728" y="37136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71216" y="371360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 txBox="1"/>
          <p:nvPr/>
        </p:nvSpPr>
        <p:spPr>
          <a:xfrm>
            <a:off x="2871216" y="37136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189095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Push(X):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4189095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DE9D9"/>
          </a:solidFill>
          <a:ln w="16510">
            <a:solidFill>
              <a:srgbClr val="E36C0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 txBox="1"/>
          <p:nvPr/>
        </p:nvSpPr>
        <p:spPr>
          <a:xfrm>
            <a:off x="1920240" y="41890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95728" y="4189095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 txBox="1"/>
          <p:nvPr/>
        </p:nvSpPr>
        <p:spPr>
          <a:xfrm>
            <a:off x="2395728" y="41890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71216" y="4189095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 txBox="1"/>
          <p:nvPr/>
        </p:nvSpPr>
        <p:spPr>
          <a:xfrm>
            <a:off x="2871216" y="41890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46704" y="4189095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 txBox="1"/>
          <p:nvPr/>
        </p:nvSpPr>
        <p:spPr>
          <a:xfrm>
            <a:off x="3346704" y="41890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72200" y="1051560"/>
            <a:ext cx="5257800" cy="5120640"/>
          </a:xfrm>
          <a:prstGeom prst="roundRect">
            <a:avLst>
              <a:gd name="adj" fmla="val 1786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Shape 32"/>
          <p:cNvSpPr/>
          <p:nvPr/>
        </p:nvSpPr>
        <p:spPr>
          <a:xfrm>
            <a:off x="6400800" y="1252728"/>
            <a:ext cx="420624" cy="420624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 txBox="1"/>
          <p:nvPr/>
        </p:nvSpPr>
        <p:spPr>
          <a:xfrm>
            <a:off x="640080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125272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400800" y="1828800"/>
            <a:ext cx="4800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 txBox="1"/>
          <p:nvPr/>
        </p:nvSpPr>
        <p:spPr>
          <a:xfrm>
            <a:off x="649224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Figur Pop()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2377440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2377440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Entfernt die vorderste Figur und liefert sie zurück.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2969514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675120" y="2969514"/>
            <a:ext cx="448056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Leere Liste →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zurückgeben.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3329559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675120" y="3329559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zurückgegebene Figur zeigt nicht mehr in die Liste.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4013073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46520" y="4305681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vorher: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60920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8" name="Text 46"/>
          <p:cNvSpPr txBox="1"/>
          <p:nvPr/>
        </p:nvSpPr>
        <p:spPr>
          <a:xfrm>
            <a:off x="7360920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836408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0" name="Text 48"/>
          <p:cNvSpPr txBox="1"/>
          <p:nvPr/>
        </p:nvSpPr>
        <p:spPr>
          <a:xfrm>
            <a:off x="7836408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311896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2" name="Text 50"/>
          <p:cNvSpPr txBox="1"/>
          <p:nvPr/>
        </p:nvSpPr>
        <p:spPr>
          <a:xfrm>
            <a:off x="8311896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446520" y="4781169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nachher: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60920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5" name="Text 53"/>
          <p:cNvSpPr txBox="1"/>
          <p:nvPr/>
        </p:nvSpPr>
        <p:spPr>
          <a:xfrm>
            <a:off x="7360920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836408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7" name="Text 55"/>
          <p:cNvSpPr txBox="1"/>
          <p:nvPr/>
        </p:nvSpPr>
        <p:spPr>
          <a:xfrm>
            <a:off x="7836408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6446520" y="5256657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liefert: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360920" y="52566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651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0" name="Text 58"/>
          <p:cNvSpPr txBox="1"/>
          <p:nvPr/>
        </p:nvSpPr>
        <p:spPr>
          <a:xfrm>
            <a:off x="7360920" y="52566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82565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621792" y="155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5 – 6: an einer Indexposition einfügen und löschen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 – 4AHIT | Verlinkte Listen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5257800" cy="5120640"/>
          </a:xfrm>
          <a:prstGeom prst="roundRect">
            <a:avLst>
              <a:gd name="adj" fmla="val 1786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960120" y="1252728"/>
            <a:ext cx="420624" cy="420624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96012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25272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1828800"/>
            <a:ext cx="4800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105156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InsertAt(int index, Figur fig)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77440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77440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Fügt die Figur so ein, dass sie danach an Position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steht.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69514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969514"/>
            <a:ext cx="448056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&lt;= 0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die Figur wird vorne eingefügt.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329559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29559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&gt;= Count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die Figur wird hinten angehängt.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013073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305681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20240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 txBox="1"/>
          <p:nvPr/>
        </p:nvSpPr>
        <p:spPr>
          <a:xfrm>
            <a:off x="1920240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95728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 txBox="1"/>
          <p:nvPr/>
        </p:nvSpPr>
        <p:spPr>
          <a:xfrm>
            <a:off x="2395728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71216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 txBox="1"/>
          <p:nvPr/>
        </p:nvSpPr>
        <p:spPr>
          <a:xfrm>
            <a:off x="2871216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46704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 txBox="1"/>
          <p:nvPr/>
        </p:nvSpPr>
        <p:spPr>
          <a:xfrm>
            <a:off x="3346704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4781169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InsertAt(2, X):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920240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 txBox="1"/>
          <p:nvPr/>
        </p:nvSpPr>
        <p:spPr>
          <a:xfrm>
            <a:off x="1920240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395728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 txBox="1"/>
          <p:nvPr/>
        </p:nvSpPr>
        <p:spPr>
          <a:xfrm>
            <a:off x="2395728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871216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DE9D9"/>
          </a:solidFill>
          <a:ln w="16510">
            <a:solidFill>
              <a:srgbClr val="E36C0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 txBox="1"/>
          <p:nvPr/>
        </p:nvSpPr>
        <p:spPr>
          <a:xfrm>
            <a:off x="2871216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46704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 txBox="1"/>
          <p:nvPr/>
        </p:nvSpPr>
        <p:spPr>
          <a:xfrm>
            <a:off x="3346704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822192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 txBox="1"/>
          <p:nvPr/>
        </p:nvSpPr>
        <p:spPr>
          <a:xfrm>
            <a:off x="3822192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72200" y="1051560"/>
            <a:ext cx="5257800" cy="5120640"/>
          </a:xfrm>
          <a:prstGeom prst="roundRect">
            <a:avLst>
              <a:gd name="adj" fmla="val 1786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0" name="Shape 38"/>
          <p:cNvSpPr/>
          <p:nvPr/>
        </p:nvSpPr>
        <p:spPr>
          <a:xfrm>
            <a:off x="6400800" y="1252728"/>
            <a:ext cx="420624" cy="420624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1" name="Text 39"/>
          <p:cNvSpPr txBox="1"/>
          <p:nvPr/>
        </p:nvSpPr>
        <p:spPr>
          <a:xfrm>
            <a:off x="640080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125272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(per Index)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6400800" y="1828800"/>
            <a:ext cx="4800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4" name="Text 42"/>
          <p:cNvSpPr txBox="1"/>
          <p:nvPr/>
        </p:nvSpPr>
        <p:spPr>
          <a:xfrm>
            <a:off x="649224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Remove(int index)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2377440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2377440"/>
            <a:ext cx="448056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Löscht die Figur an der Indexposition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6446520" y="2737485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6675120" y="2737485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Ungültiger Index (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Count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oder leere Liste → nichts passiert.</a:t>
            </a:r>
            <a:endParaRPr lang="en-US" sz="145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3329559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675120" y="3329559"/>
            <a:ext cx="448056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 an den Sonderfall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== 0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50" dirty="0"/>
          </a:p>
        </p:txBody>
      </p:sp>
      <p:sp>
        <p:nvSpPr>
          <p:cNvPr id="51" name="Text 49"/>
          <p:cNvSpPr txBox="1"/>
          <p:nvPr/>
        </p:nvSpPr>
        <p:spPr>
          <a:xfrm>
            <a:off x="6446520" y="37810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446520" y="40736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vorher: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360920" y="40736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4" name="Text 52"/>
          <p:cNvSpPr txBox="1"/>
          <p:nvPr/>
        </p:nvSpPr>
        <p:spPr>
          <a:xfrm>
            <a:off x="7360920" y="40736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836408" y="40736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6" name="Text 54"/>
          <p:cNvSpPr txBox="1"/>
          <p:nvPr/>
        </p:nvSpPr>
        <p:spPr>
          <a:xfrm>
            <a:off x="7836408" y="40736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311896" y="40736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8" name="Text 56"/>
          <p:cNvSpPr txBox="1"/>
          <p:nvPr/>
        </p:nvSpPr>
        <p:spPr>
          <a:xfrm>
            <a:off x="8311896" y="40736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787384" y="40736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0" name="Text 58"/>
          <p:cNvSpPr txBox="1"/>
          <p:nvPr/>
        </p:nvSpPr>
        <p:spPr>
          <a:xfrm>
            <a:off x="8787384" y="40736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6446520" y="45491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Remove(1):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360920" y="4549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3" name="Text 61"/>
          <p:cNvSpPr txBox="1"/>
          <p:nvPr/>
        </p:nvSpPr>
        <p:spPr>
          <a:xfrm>
            <a:off x="7360920" y="4549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836408" y="4549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5" name="Text 63"/>
          <p:cNvSpPr txBox="1"/>
          <p:nvPr/>
        </p:nvSpPr>
        <p:spPr>
          <a:xfrm>
            <a:off x="7836408" y="4549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8311896" y="45491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7" name="Text 65"/>
          <p:cNvSpPr txBox="1"/>
          <p:nvPr/>
        </p:nvSpPr>
        <p:spPr>
          <a:xfrm>
            <a:off x="8311896" y="4549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45682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621792" y="155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7 – 8: Umdrehen und Paare vertauschen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 – 4AHIT | Verlinkte Listen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5257800" cy="5120640"/>
          </a:xfrm>
          <a:prstGeom prst="roundRect">
            <a:avLst>
              <a:gd name="adj" fmla="val 1786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960120" y="1252728"/>
            <a:ext cx="420624" cy="420624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96012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25272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Umdrehen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1828800"/>
            <a:ext cx="4800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105156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Umdrehen()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77440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77440"/>
            <a:ext cx="448056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Kehrt die Reihenfolge der gesamten Liste um.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37485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737485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Liste soll in einem einzigen Durchlauf umgedreht werden.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329559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29559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Überlege: Wie viele Referenzvariablen musst du dir während des Durchlaufs merken?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013073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305681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20240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 txBox="1"/>
          <p:nvPr/>
        </p:nvSpPr>
        <p:spPr>
          <a:xfrm>
            <a:off x="1920240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95728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 txBox="1"/>
          <p:nvPr/>
        </p:nvSpPr>
        <p:spPr>
          <a:xfrm>
            <a:off x="2395728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71216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 txBox="1"/>
          <p:nvPr/>
        </p:nvSpPr>
        <p:spPr>
          <a:xfrm>
            <a:off x="2871216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46704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 txBox="1"/>
          <p:nvPr/>
        </p:nvSpPr>
        <p:spPr>
          <a:xfrm>
            <a:off x="3346704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822192" y="4305681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 txBox="1"/>
          <p:nvPr/>
        </p:nvSpPr>
        <p:spPr>
          <a:xfrm>
            <a:off x="3822192" y="43056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4781169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920240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 txBox="1"/>
          <p:nvPr/>
        </p:nvSpPr>
        <p:spPr>
          <a:xfrm>
            <a:off x="1920240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395728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 txBox="1"/>
          <p:nvPr/>
        </p:nvSpPr>
        <p:spPr>
          <a:xfrm>
            <a:off x="2395728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871216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 txBox="1"/>
          <p:nvPr/>
        </p:nvSpPr>
        <p:spPr>
          <a:xfrm>
            <a:off x="2871216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346704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 txBox="1"/>
          <p:nvPr/>
        </p:nvSpPr>
        <p:spPr>
          <a:xfrm>
            <a:off x="3346704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822192" y="47811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0" name="Text 38"/>
          <p:cNvSpPr txBox="1"/>
          <p:nvPr/>
        </p:nvSpPr>
        <p:spPr>
          <a:xfrm>
            <a:off x="3822192" y="47811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72200" y="1051560"/>
            <a:ext cx="5257800" cy="5120640"/>
          </a:xfrm>
          <a:prstGeom prst="roundRect">
            <a:avLst>
              <a:gd name="adj" fmla="val 1786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2" name="Shape 40"/>
          <p:cNvSpPr/>
          <p:nvPr/>
        </p:nvSpPr>
        <p:spPr>
          <a:xfrm>
            <a:off x="6400800" y="1252728"/>
            <a:ext cx="420624" cy="420624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3" name="Text 41"/>
          <p:cNvSpPr txBox="1"/>
          <p:nvPr/>
        </p:nvSpPr>
        <p:spPr>
          <a:xfrm>
            <a:off x="640080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6949440" y="125272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VertauscheBenachbarte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400800" y="1828800"/>
            <a:ext cx="4800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6" name="Text 44"/>
          <p:cNvSpPr txBox="1"/>
          <p:nvPr/>
        </p:nvSpPr>
        <p:spPr>
          <a:xfrm>
            <a:off x="649224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VertauscheBenachbarte()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446520" y="2377440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6675120" y="2377440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Vertauscht je zwei benachbarte Figuren: 1. mit 2., 3. mit 4., usw.</a:t>
            </a:r>
            <a:endParaRPr lang="en-US" sz="145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2969514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675120" y="2969514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ungerader Anzahl bleibt die letzte Figur an ihrem Platz.</a:t>
            </a:r>
            <a:endParaRPr lang="en-US" sz="1450" dirty="0"/>
          </a:p>
        </p:txBody>
      </p:sp>
      <p:sp>
        <p:nvSpPr>
          <p:cNvPr id="51" name="Text 49"/>
          <p:cNvSpPr txBox="1"/>
          <p:nvPr/>
        </p:nvSpPr>
        <p:spPr>
          <a:xfrm>
            <a:off x="6446520" y="3561588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6675120" y="3561588"/>
            <a:ext cx="448056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die Figur vor dem Paar (bzw.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muss auf das neue erste Element des Paares zeigen!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6446520" y="424510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446520" y="453771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vorher: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360920" y="45377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651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6" name="Text 54"/>
          <p:cNvSpPr txBox="1"/>
          <p:nvPr/>
        </p:nvSpPr>
        <p:spPr>
          <a:xfrm>
            <a:off x="7360920" y="45377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836408" y="45377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651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8" name="Text 56"/>
          <p:cNvSpPr txBox="1"/>
          <p:nvPr/>
        </p:nvSpPr>
        <p:spPr>
          <a:xfrm>
            <a:off x="7836408" y="45377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311896" y="45377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0" name="Text 58"/>
          <p:cNvSpPr txBox="1"/>
          <p:nvPr/>
        </p:nvSpPr>
        <p:spPr>
          <a:xfrm>
            <a:off x="8311896" y="45377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8787384" y="45377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2" name="Text 60"/>
          <p:cNvSpPr txBox="1"/>
          <p:nvPr/>
        </p:nvSpPr>
        <p:spPr>
          <a:xfrm>
            <a:off x="8787384" y="45377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9262872" y="45377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6510">
            <a:solidFill>
              <a:srgbClr val="9AA7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4" name="Text 62"/>
          <p:cNvSpPr txBox="1"/>
          <p:nvPr/>
        </p:nvSpPr>
        <p:spPr>
          <a:xfrm>
            <a:off x="9262872" y="45377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6446520" y="501319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nachher: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360920" y="501319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651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7" name="Text 65"/>
          <p:cNvSpPr txBox="1"/>
          <p:nvPr/>
        </p:nvSpPr>
        <p:spPr>
          <a:xfrm>
            <a:off x="7360920" y="5013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7836408" y="501319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651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9" name="Text 67"/>
          <p:cNvSpPr txBox="1"/>
          <p:nvPr/>
        </p:nvSpPr>
        <p:spPr>
          <a:xfrm>
            <a:off x="7836408" y="5013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311896" y="501319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1" name="Text 69"/>
          <p:cNvSpPr txBox="1"/>
          <p:nvPr/>
        </p:nvSpPr>
        <p:spPr>
          <a:xfrm>
            <a:off x="8311896" y="5013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8787384" y="501319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3" name="Text 71"/>
          <p:cNvSpPr txBox="1"/>
          <p:nvPr/>
        </p:nvSpPr>
        <p:spPr>
          <a:xfrm>
            <a:off x="8787384" y="5013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9262872" y="501319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6510">
            <a:solidFill>
              <a:srgbClr val="9AA7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5" name="Text 73"/>
          <p:cNvSpPr txBox="1"/>
          <p:nvPr/>
        </p:nvSpPr>
        <p:spPr>
          <a:xfrm>
            <a:off x="9262872" y="5013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8838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621792" y="155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9: zwei Listen verbinden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 – 4AHIT | Verlinkte Listen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6583680" cy="5120640"/>
          </a:xfrm>
          <a:prstGeom prst="roundRect">
            <a:avLst>
              <a:gd name="adj" fmla="val 1786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960120" y="1252728"/>
            <a:ext cx="420624" cy="420624"/>
          </a:xfrm>
          <a:prstGeom prst="ellipse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96012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25272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Anhaengen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1828800"/>
            <a:ext cx="6126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105156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Anhaengen(VerlinkteFigurListe andere)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77440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77440"/>
            <a:ext cx="580644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Hängt alle Figuren der Liste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andere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das Ende dieser Liste an.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69514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969514"/>
            <a:ext cx="580644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werden keine Figuren kopiert – die Figuren der zweiten Liste werden einfach „weiterverkettet“.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61588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561588"/>
            <a:ext cx="580644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 ist die Liste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andere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leer (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== 0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weil die Figuren jetzt zu dieser Liste gehören.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153662"/>
            <a:ext cx="201168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153662"/>
            <a:ext cx="580644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andere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leer oder </a:t>
            </a:r>
            <a:r>
              <a:rPr lang="en-US" sz="13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passiert nichts. Ist die eigene Liste leer, soll es trotzdem funktionieren.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8371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1297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20240" y="51297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 txBox="1"/>
          <p:nvPr/>
        </p:nvSpPr>
        <p:spPr>
          <a:xfrm>
            <a:off x="192024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395728" y="51297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 txBox="1"/>
          <p:nvPr/>
        </p:nvSpPr>
        <p:spPr>
          <a:xfrm>
            <a:off x="2395728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871216" y="51297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 txBox="1"/>
          <p:nvPr/>
        </p:nvSpPr>
        <p:spPr>
          <a:xfrm>
            <a:off x="2871216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346704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822192" y="51297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651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 txBox="1"/>
          <p:nvPr/>
        </p:nvSpPr>
        <p:spPr>
          <a:xfrm>
            <a:off x="3822192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97680" y="51297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651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 txBox="1"/>
          <p:nvPr/>
        </p:nvSpPr>
        <p:spPr>
          <a:xfrm>
            <a:off x="429768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56052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920240" y="5605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 txBox="1"/>
          <p:nvPr/>
        </p:nvSpPr>
        <p:spPr>
          <a:xfrm>
            <a:off x="1920240" y="5605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395728" y="5605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7" name="Text 35"/>
          <p:cNvSpPr txBox="1"/>
          <p:nvPr/>
        </p:nvSpPr>
        <p:spPr>
          <a:xfrm>
            <a:off x="2395728" y="5605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871216" y="5605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6510">
            <a:solidFill>
              <a:srgbClr val="E0AA2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9" name="Text 37"/>
          <p:cNvSpPr txBox="1"/>
          <p:nvPr/>
        </p:nvSpPr>
        <p:spPr>
          <a:xfrm>
            <a:off x="2871216" y="5605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46704" y="5605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651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1" name="Text 39"/>
          <p:cNvSpPr txBox="1"/>
          <p:nvPr/>
        </p:nvSpPr>
        <p:spPr>
          <a:xfrm>
            <a:off x="3346704" y="5605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822192" y="5605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651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3" name="Text 41"/>
          <p:cNvSpPr txBox="1"/>
          <p:nvPr/>
        </p:nvSpPr>
        <p:spPr>
          <a:xfrm>
            <a:off x="3822192" y="5605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589520" y="1051560"/>
            <a:ext cx="3867912" cy="5120640"/>
          </a:xfrm>
          <a:prstGeom prst="roundRect">
            <a:avLst>
              <a:gd name="adj" fmla="val 236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5" name="Text 43"/>
          <p:cNvSpPr txBox="1"/>
          <p:nvPr/>
        </p:nvSpPr>
        <p:spPr>
          <a:xfrm>
            <a:off x="786384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jeder Methode prüfen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7863840" y="1874520"/>
            <a:ext cx="201168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092440" y="1874520"/>
            <a:ext cx="31546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 bei einer leeren Liste?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863840" y="2537460"/>
            <a:ext cx="201168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092440" y="2537460"/>
            <a:ext cx="3154680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bei genau einem Element?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7863840" y="2960370"/>
            <a:ext cx="201168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092440" y="2960370"/>
            <a:ext cx="3154680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am Anfang der Liste (Index 0)?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7863840" y="3383280"/>
            <a:ext cx="201168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092440" y="3383280"/>
            <a:ext cx="3154680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am Ende der Liste?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7863840" y="3806190"/>
            <a:ext cx="201168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092440" y="3806190"/>
            <a:ext cx="3154680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Stimmt </a:t>
            </a:r>
            <a:r>
              <a:rPr lang="en-US" sz="14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danach?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7863840" y="4229100"/>
            <a:ext cx="201168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8092440" y="4229100"/>
            <a:ext cx="3154680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keine Figur „verloren“?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42474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621792" y="155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Testprogramm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 – 4AHIT | Verlinkte Listen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im </a:t>
            </a:r>
            <a:r>
              <a:rPr lang="en-US" sz="15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mindestens diesen Ablauf und gib nach jedem Schritt die Liste mit </a:t>
            </a:r>
            <a:r>
              <a:rPr lang="en-US" sz="15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AusgabeAllerFiguren()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257800" cy="4754880"/>
          </a:xfrm>
          <a:prstGeom prst="roundRect">
            <a:avLst>
              <a:gd name="adj" fmla="val 192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868680" y="155448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VerlinkteFigurListe liste = new VerlinkteFigurListe();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liste.Add(new Kugel("K1", 10));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liste.Add(new Wuerfel("W1", 3));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liste.Add(new Kugel("K2", 8));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liste.Add(new Wuerfel("W2", 4));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liste.Add(new Kugel("K3", 5));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liste.Push(new Wuerfel("W0-Push", 2));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 gepoppt = liste.Pop();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liste.InsertAt(2, new Kugel("K-Insert", 6));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liste.Remove(0);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liste.VertauscheBenachbarte();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liste.Umdrehen();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VerlinkteFigurListe zweiteListe = new VerlinkteFigurListe();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zweiteListe.Add(new Kugel("Z1", 3));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zweiteListe.Add(new Wuerfel("Z2", 2));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liste.Anhaengen(</a:t>
            </a:r>
            <a:r>
              <a:rPr lang="en-US" sz="1050" dirty="0" err="1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zweiteListe</a:t>
            </a: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b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1050" dirty="0" err="1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usw</a:t>
            </a: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teste alle </a:t>
            </a:r>
            <a:r>
              <a:rPr lang="en-US" sz="1050" dirty="0" err="1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Methoden</a:t>
            </a: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….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17320"/>
          <a:ext cx="5239512" cy="395020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Erwartete Liste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Ausgangsliste (Add)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509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K1 W1 K2 W2 K3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Push(W0-Push)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509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W0-Push K1 W1 K2 W2 K3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Pop() → liefert W0-Push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509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K1 W1 K2 W2 K3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InsertAt(2, K-Insert)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509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K1 W1 K-Insert K2 W2 K3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Remove(0)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509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W1 K-Insert K2 W2 K3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VertauscheBenachbarte()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509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K-Insert W1 W2 K2 K3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Umdrehen()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509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K3 K2 W2 W1 K-Insert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Anhaengen(zweiteListe)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509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K3 K2 W2 W1 K-Insert Z1 Z2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6217920" y="5532120"/>
            <a:ext cx="5239512" cy="640080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524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8"/>
          <p:cNvSpPr txBox="1"/>
          <p:nvPr/>
        </p:nvSpPr>
        <p:spPr>
          <a:xfrm>
            <a:off x="6400800" y="5532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zweiteListe.Count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muss danach 0 sein.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09F"/>
          </a:solidFill>
          <a:ln w="12700">
            <a:solidFill>
              <a:srgbClr val="14509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 txBox="1"/>
          <p:nvPr/>
        </p:nvSpPr>
        <p:spPr>
          <a:xfrm>
            <a:off x="621792" y="155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 – 4AHIT | Verlinkte Listen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097280"/>
            <a:ext cx="201168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097280"/>
            <a:ext cx="1046988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Vollständiges C#-Projekt (bzw. </a:t>
            </a:r>
            <a:r>
              <a:rPr lang="en-US" sz="15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mit allen Methoden und dem </a:t>
            </a:r>
            <a:r>
              <a:rPr lang="en-US" sz="16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Testprogramm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eigenen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Git-</a:t>
            </a:r>
            <a:r>
              <a:rPr lang="en-US" sz="16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Repoistory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591747"/>
            <a:ext cx="201168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45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591747"/>
            <a:ext cx="1046988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Klassen </a:t>
            </a:r>
            <a:r>
              <a:rPr lang="en-US" sz="15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List&lt;T&gt;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Stack&lt;T&gt;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550" b="1" dirty="0">
                <a:solidFill>
                  <a:srgbClr val="145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LinkedList&lt;T&gt;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65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generische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Elemente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dürfen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 verwendet werden.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914400" y="31025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Tipp: Baue die Methoden schrittweise </a:t>
            </a:r>
            <a:r>
              <a:rPr lang="en-US" sz="14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de-DE" sz="14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zuerst GetAt, Add und AusgabeAllerFiguren, dann Push und Pop, dann InsertAt</a:t>
            </a:r>
            <a:r>
              <a:rPr lang="en-US" sz="14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Remove, zuletzt Umdrehen, VertauscheBenachbarte und Anhaengen – und teste nach jeder Methode.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f5d393b1-fa3c-4b10-b53e-28c257709ef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E107EEC9C5294491A00ED52ECE568D" ma:contentTypeVersion="1" ma:contentTypeDescription="Ein neues Dokument erstellen." ma:contentTypeScope="" ma:versionID="085faec9054a8a15d32f5ea10e8e63e8">
  <xsd:schema xmlns:xsd="http://www.w3.org/2001/XMLSchema" xmlns:xs="http://www.w3.org/2001/XMLSchema" xmlns:p="http://schemas.microsoft.com/office/2006/metadata/properties" xmlns:ns2="f5d393b1-fa3c-4b10-b53e-28c257709efb" targetNamespace="http://schemas.microsoft.com/office/2006/metadata/properties" ma:root="true" ma:fieldsID="69febe7052c034a1c5424eaa22bef52e" ns2:_="">
    <xsd:import namespace="f5d393b1-fa3c-4b10-b53e-28c257709efb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d393b1-fa3c-4b10-b53e-28c257709ef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97625C-61D7-4603-B8AA-6DD008E2A015}">
  <ds:schemaRefs>
    <ds:schemaRef ds:uri="f5d393b1-fa3c-4b10-b53e-28c257709efb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336D297-A065-4048-BF1D-A69E07FF7D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E3006F-2C85-45D4-887B-CF02202891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d393b1-fa3c-4b10-b53e-28c257709e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1456</Words>
  <Application>Microsoft Office PowerPoint</Application>
  <PresentationFormat>Breitbild</PresentationFormat>
  <Paragraphs>341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VerlinkteFigurListe erweitern – Übungsaufgabe</dc:title>
  <dc:subject>PptxGenJS Presentation</dc:subject>
  <dc:creator>PptxGenJS</dc:creator>
  <cp:lastModifiedBy>Alexander Kaltenbrunner</cp:lastModifiedBy>
  <cp:revision>9</cp:revision>
  <dcterms:created xsi:type="dcterms:W3CDTF">2026-09-24T08:49:27Z</dcterms:created>
  <dcterms:modified xsi:type="dcterms:W3CDTF">2026-09-24T13:42:33Z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0x01010000E107EEC9C5294491A00ED52ECE568D</vt:lpwstr>
  </property>
</Properties>
</file>